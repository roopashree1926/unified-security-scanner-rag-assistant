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1"/>
  </p:notesMasterIdLst>
  <p:sldIdLst>
    <p:sldId id="274" r:id="rId5"/>
    <p:sldId id="256" r:id="rId6"/>
    <p:sldId id="257" r:id="rId7"/>
    <p:sldId id="269" r:id="rId8"/>
    <p:sldId id="279" r:id="rId9"/>
    <p:sldId id="268" r:id="rId10"/>
    <p:sldId id="273" r:id="rId11"/>
    <p:sldId id="275" r:id="rId12"/>
    <p:sldId id="272" r:id="rId13"/>
    <p:sldId id="271" r:id="rId14"/>
    <p:sldId id="276" r:id="rId15"/>
    <p:sldId id="278" r:id="rId16"/>
    <p:sldId id="277" r:id="rId17"/>
    <p:sldId id="270" r:id="rId18"/>
    <p:sldId id="265" r:id="rId19"/>
    <p:sldId id="26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Picture 8">
            <a:extLst>
              <a:ext uri="{FF2B5EF4-FFF2-40B4-BE49-F238E27FC236}">
                <a16:creationId xmlns:a16="http://schemas.microsoft.com/office/drawing/2014/main" id="{FDA50E9A-5B29-3F48-C37D-89C17238E2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91275"/>
            <a:ext cx="12192000" cy="466725"/>
          </a:xfrm>
          <a:prstGeom prst="rect">
            <a:avLst/>
          </a:prstGeom>
        </p:spPr>
      </p:pic>
    </p:spTree>
    <p:extLst>
      <p:ext uri="{BB962C8B-B14F-4D97-AF65-F5344CB8AC3E}">
        <p14:creationId xmlns:p14="http://schemas.microsoft.com/office/powerpoint/2010/main" val="214815855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4">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ieeexplore.ieee.org/document/11208493" TargetMode="External"/><Relationship Id="rId3" Type="http://schemas.openxmlformats.org/officeDocument/2006/relationships/hyperlink" Target="https://ieeexplore.ieee.org/document/10496014" TargetMode="External"/><Relationship Id="rId7" Type="http://schemas.openxmlformats.org/officeDocument/2006/relationships/hyperlink" Target="https://ieeexplore.ieee.org/document/10859408"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ieeexplore.ieee.org/document/8873438" TargetMode="External"/><Relationship Id="rId11" Type="http://schemas.openxmlformats.org/officeDocument/2006/relationships/hyperlink" Target="https://doi.org/10.1109/ICAIC67076.2026.11395762" TargetMode="External"/><Relationship Id="rId5" Type="http://schemas.openxmlformats.org/officeDocument/2006/relationships/hyperlink" Target="https://ieeexplore.ieee.org/document/9329410?utm_source=chatgpt.com" TargetMode="External"/><Relationship Id="rId10" Type="http://schemas.openxmlformats.org/officeDocument/2006/relationships/hyperlink" Target="https://ieeexplore.ieee.org/document/10339885" TargetMode="External"/><Relationship Id="rId4" Type="http://schemas.openxmlformats.org/officeDocument/2006/relationships/hyperlink" Target="https://ieeexplore.ieee.org/document/9655963?utm_source=chatgpt.com" TargetMode="External"/><Relationship Id="rId9" Type="http://schemas.openxmlformats.org/officeDocument/2006/relationships/hyperlink" Target="https://ieeexplore.ieee.org/document/10299538"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0" y="38024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dirty="0">
              <a:latin typeface="+mj-lt"/>
            </a:endParaRPr>
          </a:p>
        </p:txBody>
      </p:sp>
      <p:sp>
        <p:nvSpPr>
          <p:cNvPr id="200" name="TextBox 5"/>
          <p:cNvSpPr txBox="1">
            <a:spLocks noGrp="1"/>
          </p:cNvSpPr>
          <p:nvPr>
            <p:ph type="sldNum" sz="quarter" idx="2"/>
          </p:nvPr>
        </p:nvSpPr>
        <p:spPr>
          <a:xfrm>
            <a:off x="11396678" y="454968"/>
            <a:ext cx="162863" cy="24622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1573968" y="3788227"/>
            <a:ext cx="8724276" cy="4969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lnSpc>
                <a:spcPct val="150000"/>
              </a:lnSpc>
              <a:defRPr sz="1600" spc="300">
                <a:solidFill>
                  <a:srgbClr val="FFFFFF"/>
                </a:solidFill>
              </a:defRPr>
            </a:lvl1pPr>
          </a:lstStyle>
          <a:p>
            <a:r>
              <a:rPr lang="en-IN" sz="2000" dirty="0">
                <a:latin typeface="+mj-lt"/>
              </a:rPr>
              <a:t>School of Artificial Intelligence and Advanced Computing</a:t>
            </a:r>
            <a:endParaRPr sz="2000"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10" name="Picture 9">
            <a:extLst>
              <a:ext uri="{FF2B5EF4-FFF2-40B4-BE49-F238E27FC236}">
                <a16:creationId xmlns:a16="http://schemas.microsoft.com/office/drawing/2014/main" id="{379FE14F-095F-73F1-B975-3CCBF67C0C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40771"/>
            <a:ext cx="12192000" cy="469900"/>
          </a:xfrm>
          <a:prstGeom prst="rect">
            <a:avLst/>
          </a:prstGeom>
        </p:spPr>
      </p:pic>
      <p:sp>
        <p:nvSpPr>
          <p:cNvPr id="13" name="TextBox 5"/>
          <p:cNvSpPr txBox="1"/>
          <p:nvPr/>
        </p:nvSpPr>
        <p:spPr>
          <a:xfrm>
            <a:off x="2114624" y="2392826"/>
            <a:ext cx="8295781" cy="1631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spTree>
    <p:extLst>
      <p:ext uri="{BB962C8B-B14F-4D97-AF65-F5344CB8AC3E}">
        <p14:creationId xmlns:p14="http://schemas.microsoft.com/office/powerpoint/2010/main" val="14660480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dirty="0"/>
              <a:t>Unified Security Scanner + RAG Assistant</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dirty="0">
                <a:latin typeface="Cambria" panose="02040503050406030204" pitchFamily="18" charset="0"/>
                <a:ea typeface="Cambria" panose="02040503050406030204" pitchFamily="18" charset="0"/>
              </a:rPr>
              <a:t>Batch Number : CCS_13</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3525047547"/>
              </p:ext>
            </p:extLst>
          </p:nvPr>
        </p:nvGraphicFramePr>
        <p:xfrm>
          <a:off x="570271" y="2721840"/>
          <a:ext cx="5401751" cy="2651810"/>
        </p:xfrm>
        <a:graphic>
          <a:graphicData uri="http://schemas.openxmlformats.org/drawingml/2006/table">
            <a:tbl>
              <a:tblPr firstRow="1" bandRow="1">
                <a:noFill/>
                <a:tableStyleId>{57690726-49DA-4552-BDEB-330DD8EA8BD9}</a:tableStyleId>
              </a:tblPr>
              <a:tblGrid>
                <a:gridCol w="2068076">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None/>
                      </a:pPr>
                      <a:r>
                        <a:rPr lang="en-IN" sz="1800" u="none" strike="noStrike" cap="none" dirty="0"/>
                        <a:t>20231CCS0117</a:t>
                      </a:r>
                    </a:p>
                    <a:p>
                      <a:pPr marL="0" marR="0" lvl="0" indent="0" algn="ctr" rtl="0">
                        <a:spcBef>
                          <a:spcPts val="0"/>
                        </a:spcBef>
                        <a:spcAft>
                          <a:spcPts val="0"/>
                        </a:spcAft>
                        <a:buNone/>
                      </a:pPr>
                      <a:r>
                        <a:rPr lang="en-IN" sz="1800" u="none" strike="noStrike" cap="none" dirty="0"/>
                        <a:t>20231CCS0125</a:t>
                      </a:r>
                    </a:p>
                    <a:p>
                      <a:pPr marL="0" marR="0" lvl="0" indent="0" algn="ctr" rtl="0">
                        <a:spcBef>
                          <a:spcPts val="0"/>
                        </a:spcBef>
                        <a:spcAft>
                          <a:spcPts val="0"/>
                        </a:spcAft>
                        <a:buNone/>
                      </a:pPr>
                      <a:r>
                        <a:rPr lang="en-IN" sz="1800" u="none" strike="noStrike" cap="none" dirty="0"/>
                        <a:t>20231CCS0116</a:t>
                      </a:r>
                    </a:p>
                    <a:p>
                      <a:pPr marL="0" marR="0" lvl="0" indent="0" algn="ctr" rtl="0">
                        <a:spcBef>
                          <a:spcPts val="0"/>
                        </a:spcBef>
                        <a:spcAft>
                          <a:spcPts val="0"/>
                        </a:spcAft>
                        <a:buNone/>
                      </a:pPr>
                      <a:r>
                        <a:rPr lang="en-IN" sz="1800" u="none" strike="noStrike" cap="none" dirty="0"/>
                        <a:t>20231CCS0173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u="none" strike="noStrike" cap="none" dirty="0" err="1"/>
                        <a:t>Roopashree</a:t>
                      </a:r>
                      <a:r>
                        <a:rPr lang="en-IN" sz="1800" u="none" strike="noStrike" cap="none" dirty="0"/>
                        <a:t> M</a:t>
                      </a:r>
                    </a:p>
                    <a:p>
                      <a:pPr marL="0" marR="0" lvl="0" indent="0" algn="l" rtl="0">
                        <a:spcBef>
                          <a:spcPts val="0"/>
                        </a:spcBef>
                        <a:spcAft>
                          <a:spcPts val="0"/>
                        </a:spcAft>
                        <a:buNone/>
                      </a:pPr>
                      <a:r>
                        <a:rPr lang="en-IN" sz="1800" u="none" strike="noStrike" cap="none" dirty="0"/>
                        <a:t>Mohammed Rayyan Khan</a:t>
                      </a:r>
                    </a:p>
                    <a:p>
                      <a:pPr marL="0" marR="0" lvl="0" indent="0" algn="l" rtl="0">
                        <a:spcBef>
                          <a:spcPts val="0"/>
                        </a:spcBef>
                        <a:spcAft>
                          <a:spcPts val="0"/>
                        </a:spcAft>
                        <a:buNone/>
                      </a:pPr>
                      <a:r>
                        <a:rPr lang="en-IN" sz="1800" u="none" strike="noStrike" cap="none" dirty="0"/>
                        <a:t>Shreya</a:t>
                      </a:r>
                    </a:p>
                    <a:p>
                      <a:pPr marL="0" marR="0" lvl="0" indent="0" algn="l" rtl="0">
                        <a:spcBef>
                          <a:spcPts val="0"/>
                        </a:spcBef>
                        <a:spcAft>
                          <a:spcPts val="0"/>
                        </a:spcAft>
                        <a:buNone/>
                      </a:pPr>
                      <a:r>
                        <a:rPr lang="en-IN" sz="1800" u="none" strike="noStrike" cap="none" dirty="0"/>
                        <a:t>Syeda Zaiba</a:t>
                      </a: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a:t>
            </a:r>
            <a:r>
              <a:rPr lang="en-GB" sz="1700" b="1" dirty="0">
                <a:solidFill>
                  <a:srgbClr val="17365D"/>
                </a:solidFill>
                <a:latin typeface="Cambria" panose="02040503050406030204" pitchFamily="18" charset="0"/>
                <a:ea typeface="Cambria" panose="02040503050406030204" pitchFamily="18" charset="0"/>
                <a:cs typeface="Verdana"/>
                <a:sym typeface="Verdana"/>
              </a:rPr>
              <a:t>Sampath A K </a:t>
            </a:r>
          </a:p>
          <a:p>
            <a:pPr lvl="0">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sym typeface="Verdana"/>
              </a:rPr>
              <a:t>Head of the department (cyber security)</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1" y="334089"/>
            <a:ext cx="5425083" cy="5523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CSS7102- Mini  Project Review-2</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658762" y="460267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dirty="0">
                <a:solidFill>
                  <a:schemeClr val="tx1">
                    <a:lumMod val="75000"/>
                    <a:lumOff val="25000"/>
                  </a:schemeClr>
                </a:solidFill>
                <a:latin typeface="Cambria" panose="02040503050406030204" pitchFamily="18" charset="0"/>
                <a:ea typeface="Cambria" panose="02040503050406030204" pitchFamily="18" charset="0"/>
              </a:rPr>
              <a:t>CCS-Computer Science &amp; Engineering (Cyber Security)</a:t>
            </a:r>
            <a:endParaRPr lang="en-US" sz="2000" b="1" i="0" u="none" strike="noStrike" cap="none" dirty="0">
              <a:solidFill>
                <a:schemeClr val="tx1">
                  <a:lumMod val="75000"/>
                  <a:lumOff val="25000"/>
                </a:schemeClr>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lumMod val="75000"/>
                    <a:lumOff val="25000"/>
                  </a:schemeClr>
                </a:solidFill>
                <a:latin typeface="Cambria" panose="02040503050406030204" pitchFamily="18" charset="0"/>
                <a:ea typeface="Cambria" panose="02040503050406030204" pitchFamily="18" charset="0"/>
                <a:cs typeface="Verdana"/>
                <a:sym typeface="Verdana"/>
              </a:rPr>
              <a:t>Dr. Sampath A K</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lumMod val="75000"/>
                    <a:lumOff val="25000"/>
                  </a:schemeClr>
                </a:solidFill>
                <a:latin typeface="Cambria" panose="02040503050406030204" pitchFamily="18" charset="0"/>
                <a:ea typeface="Cambria" panose="02040503050406030204" pitchFamily="18" charset="0"/>
                <a:cs typeface="Verdana"/>
                <a:sym typeface="Verdana"/>
              </a:rPr>
              <a:t>Dr . Sampath A K</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lumMod val="75000"/>
                    <a:lumOff val="25000"/>
                  </a:schemeClr>
                </a:solidFill>
                <a:latin typeface="Cambria" panose="02040503050406030204" pitchFamily="18" charset="0"/>
                <a:ea typeface="Cambria" panose="02040503050406030204" pitchFamily="18" charset="0"/>
                <a:cs typeface="Verdana"/>
                <a:sym typeface="Verdana"/>
              </a:rPr>
              <a:t>Dr. Sampath A K</a:t>
            </a:r>
            <a:endParaRPr sz="2000" b="1" i="0" u="none" strike="noStrike" cap="none" dirty="0">
              <a:solidFill>
                <a:schemeClr val="tx1">
                  <a:lumMod val="75000"/>
                  <a:lumOff val="25000"/>
                </a:schemeClr>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04568"/>
            <a:ext cx="10668000" cy="5456903"/>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Wingdings" panose="05000000000000000000" pitchFamily="2" charset="2"/>
              <a:buChar char="Ø"/>
            </a:pPr>
            <a:r>
              <a:rPr lang="en-IN" sz="1600" dirty="0">
                <a:latin typeface="Cambria" panose="02040503050406030204" pitchFamily="18" charset="0"/>
                <a:ea typeface="Cambria" panose="02040503050406030204" pitchFamily="18" charset="0"/>
              </a:rPr>
              <a:t>Literature Survey</a:t>
            </a:r>
            <a:endParaRPr lang="en-US" sz="16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Existing Methods and Drawbacks</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Proposed Methods Feasibility Study</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Architecture diagram</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Hardware and software</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Timeline</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References</a:t>
            </a:r>
          </a:p>
          <a:p>
            <a:pPr marL="495300" indent="-342900" algn="just">
              <a:lnSpc>
                <a:spcPct val="200000"/>
              </a:lnSpc>
              <a:spcBef>
                <a:spcPts val="0"/>
              </a:spcBef>
              <a:buFont typeface="Wingdings" panose="05000000000000000000" pitchFamily="2" charset="2"/>
              <a:buChar char="Ø"/>
            </a:pPr>
            <a:endParaRPr lang="en-US" sz="16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600" dirty="0">
              <a:latin typeface="Cambria" panose="02040503050406030204" pitchFamily="18" charset="0"/>
              <a:ea typeface="Cambria" panose="02040503050406030204" pitchFamily="18" charset="0"/>
            </a:endParaRPr>
          </a:p>
          <a:p>
            <a:pPr marL="152400" indent="0" algn="just">
              <a:lnSpc>
                <a:spcPct val="200000"/>
              </a:lnSpc>
              <a:spcBef>
                <a:spcPts val="0"/>
              </a:spcBef>
              <a:buNone/>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500" dirty="0">
              <a:latin typeface="Cambria" panose="02040503050406030204" pitchFamily="18" charset="0"/>
              <a:ea typeface="Cambria" panose="02040503050406030204" pitchFamily="18" charset="0"/>
            </a:endParaRPr>
          </a:p>
          <a:p>
            <a:pPr marL="152400" indent="0" algn="just">
              <a:lnSpc>
                <a:spcPct val="200000"/>
              </a:lnSpc>
              <a:spcBef>
                <a:spcPts val="0"/>
              </a:spcBef>
              <a:buNone/>
            </a:pPr>
            <a:endParaRPr lang="en-US" sz="1600" dirty="0">
              <a:latin typeface="Cambria" panose="02040503050406030204" pitchFamily="18" charset="0"/>
              <a:ea typeface="Cambria" panose="02040503050406030204" pitchFamily="18" charset="0"/>
            </a:endParaRPr>
          </a:p>
          <a:p>
            <a:pPr marL="152400" lvl="0" indent="0" algn="just">
              <a:spcBef>
                <a:spcPts val="0"/>
              </a:spcBef>
              <a:buNone/>
            </a:pPr>
            <a:endParaRPr lang="en-US" sz="1600" dirty="0">
              <a:latin typeface="Cambria" panose="02040503050406030204" pitchFamily="18" charset="0"/>
              <a:ea typeface="Cambria" panose="02040503050406030204" pitchFamily="18" charset="0"/>
            </a:endParaRPr>
          </a:p>
          <a:p>
            <a:pPr marL="152400" lvl="0" indent="0" algn="just">
              <a:spcBef>
                <a:spcPts val="0"/>
              </a:spcBef>
              <a:buNone/>
            </a:pPr>
            <a:endParaRPr lang="en-US" sz="1600" dirty="0">
              <a:latin typeface="Cambria" panose="02040503050406030204" pitchFamily="18" charset="0"/>
              <a:ea typeface="Cambria" panose="02040503050406030204" pitchFamily="18" charset="0"/>
            </a:endParaRPr>
          </a:p>
          <a:p>
            <a:pPr marL="152400" lvl="0" indent="0" algn="just">
              <a:spcBef>
                <a:spcPts val="0"/>
              </a:spcBef>
              <a:buNone/>
            </a:pPr>
            <a:endParaRPr lang="en-US" sz="1600" dirty="0">
              <a:latin typeface="Cambria" panose="02040503050406030204" pitchFamily="18" charset="0"/>
              <a:ea typeface="Cambria" panose="02040503050406030204" pitchFamily="18" charset="0"/>
            </a:endParaRPr>
          </a:p>
          <a:p>
            <a:pPr marL="152400" lvl="0" indent="0" algn="just">
              <a:spcBef>
                <a:spcPts val="0"/>
              </a:spcBef>
              <a:buNone/>
            </a:pPr>
            <a:endParaRPr lang="en-US" sz="16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5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35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22632"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IN" dirty="0">
                <a:latin typeface="Cambria" panose="02040503050406030204" pitchFamily="18" charset="0"/>
                <a:ea typeface="Cambria" panose="02040503050406030204" pitchFamily="18" charset="0"/>
              </a:rPr>
              <a:t>With the increasing number of cyber threats, organizations require efficient tools to identify vulnerabilities in their systems. However, existing security assessment tools such as Nmap and Nuclei operate independently, requiring users to switch between different tools and manually </a:t>
            </a:r>
            <a:r>
              <a:rPr lang="en-IN" dirty="0" err="1">
                <a:latin typeface="Cambria" panose="02040503050406030204" pitchFamily="18" charset="0"/>
                <a:ea typeface="Cambria" panose="02040503050406030204" pitchFamily="18" charset="0"/>
              </a:rPr>
              <a:t>analyze</a:t>
            </a:r>
            <a:r>
              <a:rPr lang="en-IN" dirty="0">
                <a:latin typeface="Cambria" panose="02040503050406030204" pitchFamily="18" charset="0"/>
                <a:ea typeface="Cambria" panose="02040503050406030204" pitchFamily="18" charset="0"/>
              </a:rPr>
              <a:t> separate outputs.</a:t>
            </a:r>
          </a:p>
          <a:p>
            <a:pPr marL="152400" indent="0">
              <a:spcBef>
                <a:spcPts val="0"/>
              </a:spcBef>
              <a:buNone/>
            </a:pPr>
            <a:endParaRPr lang="en-IN" dirty="0">
              <a:latin typeface="Cambria" panose="02040503050406030204" pitchFamily="18" charset="0"/>
              <a:ea typeface="Cambria" panose="02040503050406030204" pitchFamily="18" charset="0"/>
            </a:endParaRPr>
          </a:p>
          <a:p>
            <a:pPr marL="495300" indent="-342900">
              <a:spcBef>
                <a:spcPts val="0"/>
              </a:spcBef>
              <a:buFont typeface="Wingdings" panose="05000000000000000000" pitchFamily="2" charset="2"/>
              <a:buChar char="Ø"/>
            </a:pPr>
            <a:r>
              <a:rPr lang="en-IN" dirty="0">
                <a:latin typeface="Cambria" panose="02040503050406030204" pitchFamily="18" charset="0"/>
                <a:ea typeface="Cambria" panose="02040503050406030204" pitchFamily="18" charset="0"/>
              </a:rPr>
              <a:t>The proposed </a:t>
            </a:r>
            <a:r>
              <a:rPr lang="en-IN" b="1" dirty="0">
                <a:latin typeface="Cambria" panose="02040503050406030204" pitchFamily="18" charset="0"/>
                <a:ea typeface="Cambria" panose="02040503050406030204" pitchFamily="18" charset="0"/>
              </a:rPr>
              <a:t>Unified Security Scanner</a:t>
            </a:r>
            <a:r>
              <a:rPr lang="en-IN" dirty="0">
                <a:latin typeface="Cambria" panose="02040503050406030204" pitchFamily="18" charset="0"/>
                <a:ea typeface="Cambria" panose="02040503050406030204" pitchFamily="18" charset="0"/>
              </a:rPr>
              <a:t> integrates multiple open-source security scanners into a single web-based platform. The system currently supports </a:t>
            </a:r>
            <a:r>
              <a:rPr lang="en-IN" b="1" dirty="0">
                <a:latin typeface="Cambria" panose="02040503050406030204" pitchFamily="18" charset="0"/>
                <a:ea typeface="Cambria" panose="02040503050406030204" pitchFamily="18" charset="0"/>
              </a:rPr>
              <a:t>Nmap</a:t>
            </a:r>
            <a:r>
              <a:rPr lang="en-IN" dirty="0">
                <a:latin typeface="Cambria" panose="02040503050406030204" pitchFamily="18" charset="0"/>
                <a:ea typeface="Cambria" panose="02040503050406030204" pitchFamily="18" charset="0"/>
              </a:rPr>
              <a:t> for network scanning and </a:t>
            </a:r>
            <a:r>
              <a:rPr lang="en-IN" b="1" dirty="0">
                <a:latin typeface="Cambria" panose="02040503050406030204" pitchFamily="18" charset="0"/>
                <a:ea typeface="Cambria" panose="02040503050406030204" pitchFamily="18" charset="0"/>
              </a:rPr>
              <a:t>Nuclei</a:t>
            </a:r>
            <a:r>
              <a:rPr lang="en-IN" dirty="0">
                <a:latin typeface="Cambria" panose="02040503050406030204" pitchFamily="18" charset="0"/>
                <a:ea typeface="Cambria" panose="02040503050406030204" pitchFamily="18" charset="0"/>
              </a:rPr>
              <a:t> for vulnerability assessment. Users can initiate scans through a simple web interface, while the backend executes the selected scanner and displays standardized results in a unified dashboard.</a:t>
            </a:r>
          </a:p>
          <a:p>
            <a:pPr marL="342900" lvl="0" indent="-190500" algn="ctr">
              <a:spcBef>
                <a:spcPts val="0"/>
              </a:spcBef>
              <a:buNone/>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483B-1E68-F7BD-8607-CB5D0442C1DF}"/>
              </a:ext>
            </a:extLst>
          </p:cNvPr>
          <p:cNvSpPr>
            <a:spLocks noGrp="1"/>
          </p:cNvSpPr>
          <p:nvPr>
            <p:ph type="title"/>
          </p:nvPr>
        </p:nvSpPr>
        <p:spPr>
          <a:xfrm>
            <a:off x="762000" y="518249"/>
            <a:ext cx="10668000" cy="487500"/>
          </a:xfrm>
        </p:spPr>
        <p:txBody>
          <a:bodyPr/>
          <a:lstStyle/>
          <a:p>
            <a:r>
              <a:rPr lang="en-IN" dirty="0">
                <a:latin typeface="Cambria" panose="02040503050406030204" pitchFamily="18" charset="0"/>
                <a:ea typeface="Cambria" panose="02040503050406030204" pitchFamily="18" charset="0"/>
              </a:rPr>
              <a:t>Literature Survey</a:t>
            </a:r>
            <a:br>
              <a:rPr lang="en-US" dirty="0">
                <a:latin typeface="Cambria" panose="02040503050406030204" pitchFamily="18" charset="0"/>
                <a:ea typeface="Cambria" panose="02040503050406030204" pitchFamily="18" charset="0"/>
              </a:rPr>
            </a:br>
            <a:endParaRPr lang="en-IN" dirty="0"/>
          </a:p>
        </p:txBody>
      </p:sp>
      <p:graphicFrame>
        <p:nvGraphicFramePr>
          <p:cNvPr id="4" name="Table 3">
            <a:extLst>
              <a:ext uri="{FF2B5EF4-FFF2-40B4-BE49-F238E27FC236}">
                <a16:creationId xmlns:a16="http://schemas.microsoft.com/office/drawing/2014/main" id="{894AD557-34B9-D0C1-4951-84D9D025D0B6}"/>
              </a:ext>
            </a:extLst>
          </p:cNvPr>
          <p:cNvGraphicFramePr>
            <a:graphicFrameLocks noGrp="1"/>
          </p:cNvGraphicFramePr>
          <p:nvPr>
            <p:extLst>
              <p:ext uri="{D42A27DB-BD31-4B8C-83A1-F6EECF244321}">
                <p14:modId xmlns:p14="http://schemas.microsoft.com/office/powerpoint/2010/main" val="3979909782"/>
              </p:ext>
            </p:extLst>
          </p:nvPr>
        </p:nvGraphicFramePr>
        <p:xfrm>
          <a:off x="812800" y="1396181"/>
          <a:ext cx="10668000" cy="4365526"/>
        </p:xfrm>
        <a:graphic>
          <a:graphicData uri="http://schemas.openxmlformats.org/drawingml/2006/table">
            <a:tbl>
              <a:tblPr>
                <a:tableStyleId>{3C2FFA5D-87B4-456A-9821-1D502468CF0F}</a:tableStyleId>
              </a:tblPr>
              <a:tblGrid>
                <a:gridCol w="5334000">
                  <a:extLst>
                    <a:ext uri="{9D8B030D-6E8A-4147-A177-3AD203B41FA5}">
                      <a16:colId xmlns:a16="http://schemas.microsoft.com/office/drawing/2014/main" val="1338242264"/>
                    </a:ext>
                  </a:extLst>
                </a:gridCol>
                <a:gridCol w="5334000">
                  <a:extLst>
                    <a:ext uri="{9D8B030D-6E8A-4147-A177-3AD203B41FA5}">
                      <a16:colId xmlns:a16="http://schemas.microsoft.com/office/drawing/2014/main" val="2347610150"/>
                    </a:ext>
                  </a:extLst>
                </a:gridCol>
              </a:tblGrid>
              <a:tr h="396866">
                <a:tc>
                  <a:txBody>
                    <a:bodyPr/>
                    <a:lstStyle/>
                    <a:p>
                      <a:pPr>
                        <a:buNone/>
                      </a:pPr>
                      <a:r>
                        <a:rPr lang="en-IN" b="1" dirty="0"/>
                        <a:t>Paper</a:t>
                      </a:r>
                    </a:p>
                  </a:txBody>
                  <a:tcPr anchor="ctr"/>
                </a:tc>
                <a:tc>
                  <a:txBody>
                    <a:bodyPr/>
                    <a:lstStyle/>
                    <a:p>
                      <a:pPr>
                        <a:buNone/>
                      </a:pPr>
                      <a:r>
                        <a:rPr lang="en-IN" b="1" dirty="0"/>
                        <a:t>Contribution</a:t>
                      </a:r>
                    </a:p>
                  </a:txBody>
                  <a:tcPr anchor="ctr"/>
                </a:tc>
                <a:extLst>
                  <a:ext uri="{0D108BD9-81ED-4DB2-BD59-A6C34878D82A}">
                    <a16:rowId xmlns:a16="http://schemas.microsoft.com/office/drawing/2014/main" val="2274738467"/>
                  </a:ext>
                </a:extLst>
              </a:tr>
              <a:tr h="396866">
                <a:tc>
                  <a:txBody>
                    <a:bodyPr/>
                    <a:lstStyle/>
                    <a:p>
                      <a:pPr>
                        <a:buNone/>
                      </a:pPr>
                      <a:r>
                        <a:rPr lang="en-IN" dirty="0"/>
                        <a:t>A Systematic Literature Review on Web Vulnerability Scanners</a:t>
                      </a:r>
                    </a:p>
                  </a:txBody>
                  <a:tcPr anchor="ctr"/>
                </a:tc>
                <a:tc>
                  <a:txBody>
                    <a:bodyPr/>
                    <a:lstStyle/>
                    <a:p>
                      <a:pPr>
                        <a:buNone/>
                      </a:pPr>
                      <a:r>
                        <a:rPr lang="en-IN"/>
                        <a:t>Reviews existing vulnerability scanners</a:t>
                      </a:r>
                    </a:p>
                  </a:txBody>
                  <a:tcPr anchor="ctr"/>
                </a:tc>
                <a:extLst>
                  <a:ext uri="{0D108BD9-81ED-4DB2-BD59-A6C34878D82A}">
                    <a16:rowId xmlns:a16="http://schemas.microsoft.com/office/drawing/2014/main" val="4222326923"/>
                  </a:ext>
                </a:extLst>
              </a:tr>
              <a:tr h="396866">
                <a:tc>
                  <a:txBody>
                    <a:bodyPr/>
                    <a:lstStyle/>
                    <a:p>
                      <a:pPr>
                        <a:buNone/>
                      </a:pPr>
                      <a:r>
                        <a:rPr lang="en-IN"/>
                        <a:t>Web-based Reconnaissance and Vulnerability Scanner</a:t>
                      </a:r>
                    </a:p>
                  </a:txBody>
                  <a:tcPr anchor="ctr"/>
                </a:tc>
                <a:tc>
                  <a:txBody>
                    <a:bodyPr/>
                    <a:lstStyle/>
                    <a:p>
                      <a:pPr>
                        <a:buNone/>
                      </a:pPr>
                      <a:r>
                        <a:rPr lang="en-IN"/>
                        <a:t>Proposes integrated vulnerability assessment</a:t>
                      </a:r>
                    </a:p>
                  </a:txBody>
                  <a:tcPr anchor="ctr"/>
                </a:tc>
                <a:extLst>
                  <a:ext uri="{0D108BD9-81ED-4DB2-BD59-A6C34878D82A}">
                    <a16:rowId xmlns:a16="http://schemas.microsoft.com/office/drawing/2014/main" val="1126012910"/>
                  </a:ext>
                </a:extLst>
              </a:tr>
              <a:tr h="396866">
                <a:tc>
                  <a:txBody>
                    <a:bodyPr/>
                    <a:lstStyle/>
                    <a:p>
                      <a:pPr>
                        <a:buNone/>
                      </a:pPr>
                      <a:r>
                        <a:rPr lang="en-IN"/>
                        <a:t>Evaluation of Security Vulnerability Scanners</a:t>
                      </a:r>
                    </a:p>
                  </a:txBody>
                  <a:tcPr anchor="ctr"/>
                </a:tc>
                <a:tc>
                  <a:txBody>
                    <a:bodyPr/>
                    <a:lstStyle/>
                    <a:p>
                      <a:pPr>
                        <a:buNone/>
                      </a:pPr>
                      <a:r>
                        <a:rPr lang="en-IN"/>
                        <a:t>Compares Nmap, Nessus, OpenVAS</a:t>
                      </a:r>
                    </a:p>
                  </a:txBody>
                  <a:tcPr anchor="ctr"/>
                </a:tc>
                <a:extLst>
                  <a:ext uri="{0D108BD9-81ED-4DB2-BD59-A6C34878D82A}">
                    <a16:rowId xmlns:a16="http://schemas.microsoft.com/office/drawing/2014/main" val="2458175015"/>
                  </a:ext>
                </a:extLst>
              </a:tr>
              <a:tr h="396866">
                <a:tc>
                  <a:txBody>
                    <a:bodyPr/>
                    <a:lstStyle/>
                    <a:p>
                      <a:pPr>
                        <a:buNone/>
                      </a:pPr>
                      <a:r>
                        <a:rPr lang="en-IN"/>
                        <a:t>A Comprehensive Detection Approach of Nmap</a:t>
                      </a:r>
                    </a:p>
                  </a:txBody>
                  <a:tcPr anchor="ctr"/>
                </a:tc>
                <a:tc>
                  <a:txBody>
                    <a:bodyPr/>
                    <a:lstStyle/>
                    <a:p>
                      <a:pPr>
                        <a:buNone/>
                      </a:pPr>
                      <a:r>
                        <a:rPr lang="en-IN"/>
                        <a:t>Explains Nmap scanning principles</a:t>
                      </a:r>
                    </a:p>
                  </a:txBody>
                  <a:tcPr anchor="ctr"/>
                </a:tc>
                <a:extLst>
                  <a:ext uri="{0D108BD9-81ED-4DB2-BD59-A6C34878D82A}">
                    <a16:rowId xmlns:a16="http://schemas.microsoft.com/office/drawing/2014/main" val="929097527"/>
                  </a:ext>
                </a:extLst>
              </a:tr>
              <a:tr h="396866">
                <a:tc>
                  <a:txBody>
                    <a:bodyPr/>
                    <a:lstStyle/>
                    <a:p>
                      <a:pPr>
                        <a:buNone/>
                      </a:pPr>
                      <a:r>
                        <a:rPr lang="en-IN"/>
                        <a:t>Automation of Nmap Scanning</a:t>
                      </a:r>
                    </a:p>
                  </a:txBody>
                  <a:tcPr anchor="ctr"/>
                </a:tc>
                <a:tc>
                  <a:txBody>
                    <a:bodyPr/>
                    <a:lstStyle/>
                    <a:p>
                      <a:pPr>
                        <a:buNone/>
                      </a:pPr>
                      <a:r>
                        <a:rPr lang="en-IN"/>
                        <a:t>Automates Nmap execution</a:t>
                      </a:r>
                    </a:p>
                  </a:txBody>
                  <a:tcPr anchor="ctr"/>
                </a:tc>
                <a:extLst>
                  <a:ext uri="{0D108BD9-81ED-4DB2-BD59-A6C34878D82A}">
                    <a16:rowId xmlns:a16="http://schemas.microsoft.com/office/drawing/2014/main" val="3596426680"/>
                  </a:ext>
                </a:extLst>
              </a:tr>
              <a:tr h="396866">
                <a:tc>
                  <a:txBody>
                    <a:bodyPr/>
                    <a:lstStyle/>
                    <a:p>
                      <a:pPr>
                        <a:buNone/>
                      </a:pPr>
                      <a:r>
                        <a:rPr lang="en-IN"/>
                        <a:t>Network Monitoring and Enumerating Vulnerabilities</a:t>
                      </a:r>
                    </a:p>
                  </a:txBody>
                  <a:tcPr anchor="ctr"/>
                </a:tc>
                <a:tc>
                  <a:txBody>
                    <a:bodyPr/>
                    <a:lstStyle/>
                    <a:p>
                      <a:pPr>
                        <a:buNone/>
                      </a:pPr>
                      <a:r>
                        <a:rPr lang="en-IN"/>
                        <a:t>Network vulnerability assessment</a:t>
                      </a:r>
                    </a:p>
                  </a:txBody>
                  <a:tcPr anchor="ctr"/>
                </a:tc>
                <a:extLst>
                  <a:ext uri="{0D108BD9-81ED-4DB2-BD59-A6C34878D82A}">
                    <a16:rowId xmlns:a16="http://schemas.microsoft.com/office/drawing/2014/main" val="2522085348"/>
                  </a:ext>
                </a:extLst>
              </a:tr>
              <a:tr h="396866">
                <a:tc>
                  <a:txBody>
                    <a:bodyPr/>
                    <a:lstStyle/>
                    <a:p>
                      <a:pPr>
                        <a:buNone/>
                      </a:pPr>
                      <a:r>
                        <a:rPr lang="en-IN"/>
                        <a:t>Systematic Method for Network Scanning</a:t>
                      </a:r>
                    </a:p>
                  </a:txBody>
                  <a:tcPr anchor="ctr"/>
                </a:tc>
                <a:tc>
                  <a:txBody>
                    <a:bodyPr/>
                    <a:lstStyle/>
                    <a:p>
                      <a:pPr>
                        <a:buNone/>
                      </a:pPr>
                      <a:r>
                        <a:rPr lang="en-IN"/>
                        <a:t>Penetration testing using Nmap</a:t>
                      </a:r>
                    </a:p>
                  </a:txBody>
                  <a:tcPr anchor="ctr"/>
                </a:tc>
                <a:extLst>
                  <a:ext uri="{0D108BD9-81ED-4DB2-BD59-A6C34878D82A}">
                    <a16:rowId xmlns:a16="http://schemas.microsoft.com/office/drawing/2014/main" val="1250181378"/>
                  </a:ext>
                </a:extLst>
              </a:tr>
              <a:tr h="396866">
                <a:tc>
                  <a:txBody>
                    <a:bodyPr/>
                    <a:lstStyle/>
                    <a:p>
                      <a:pPr>
                        <a:buNone/>
                      </a:pPr>
                      <a:r>
                        <a:rPr lang="en-IN"/>
                        <a:t>Impact of Penetration Testing</a:t>
                      </a:r>
                    </a:p>
                  </a:txBody>
                  <a:tcPr anchor="ctr"/>
                </a:tc>
                <a:tc>
                  <a:txBody>
                    <a:bodyPr/>
                    <a:lstStyle/>
                    <a:p>
                      <a:pPr>
                        <a:buNone/>
                      </a:pPr>
                      <a:r>
                        <a:rPr lang="en-IN"/>
                        <a:t>Security assessment challenges</a:t>
                      </a:r>
                    </a:p>
                  </a:txBody>
                  <a:tcPr anchor="ctr"/>
                </a:tc>
                <a:extLst>
                  <a:ext uri="{0D108BD9-81ED-4DB2-BD59-A6C34878D82A}">
                    <a16:rowId xmlns:a16="http://schemas.microsoft.com/office/drawing/2014/main" val="679424562"/>
                  </a:ext>
                </a:extLst>
              </a:tr>
              <a:tr h="396866">
                <a:tc>
                  <a:txBody>
                    <a:bodyPr/>
                    <a:lstStyle/>
                    <a:p>
                      <a:pPr>
                        <a:buNone/>
                      </a:pPr>
                      <a:r>
                        <a:rPr lang="en-IN"/>
                        <a:t>Detecting Network Security Vulnerabilities</a:t>
                      </a:r>
                    </a:p>
                  </a:txBody>
                  <a:tcPr anchor="ctr"/>
                </a:tc>
                <a:tc>
                  <a:txBody>
                    <a:bodyPr/>
                    <a:lstStyle/>
                    <a:p>
                      <a:pPr>
                        <a:buNone/>
                      </a:pPr>
                      <a:r>
                        <a:rPr lang="en-IN"/>
                        <a:t>Threat identification methods</a:t>
                      </a:r>
                    </a:p>
                  </a:txBody>
                  <a:tcPr anchor="ctr"/>
                </a:tc>
                <a:extLst>
                  <a:ext uri="{0D108BD9-81ED-4DB2-BD59-A6C34878D82A}">
                    <a16:rowId xmlns:a16="http://schemas.microsoft.com/office/drawing/2014/main" val="188436205"/>
                  </a:ext>
                </a:extLst>
              </a:tr>
              <a:tr h="396866">
                <a:tc>
                  <a:txBody>
                    <a:bodyPr/>
                    <a:lstStyle/>
                    <a:p>
                      <a:pPr>
                        <a:buNone/>
                      </a:pPr>
                      <a:r>
                        <a:rPr lang="en-IN"/>
                        <a:t>Improving Productivity in Nmap Security Audits</a:t>
                      </a:r>
                    </a:p>
                  </a:txBody>
                  <a:tcPr anchor="ctr"/>
                </a:tc>
                <a:tc>
                  <a:txBody>
                    <a:bodyPr/>
                    <a:lstStyle/>
                    <a:p>
                      <a:pPr>
                        <a:buNone/>
                      </a:pPr>
                      <a:r>
                        <a:rPr lang="en-IN" dirty="0"/>
                        <a:t>Enhances Nmap usability</a:t>
                      </a:r>
                    </a:p>
                  </a:txBody>
                  <a:tcPr anchor="ctr"/>
                </a:tc>
                <a:extLst>
                  <a:ext uri="{0D108BD9-81ED-4DB2-BD59-A6C34878D82A}">
                    <a16:rowId xmlns:a16="http://schemas.microsoft.com/office/drawing/2014/main" val="3506712453"/>
                  </a:ext>
                </a:extLst>
              </a:tr>
            </a:tbl>
          </a:graphicData>
        </a:graphic>
      </p:graphicFrame>
    </p:spTree>
    <p:extLst>
      <p:ext uri="{BB962C8B-B14F-4D97-AF65-F5344CB8AC3E}">
        <p14:creationId xmlns:p14="http://schemas.microsoft.com/office/powerpoint/2010/main" val="302930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60400" y="655500"/>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Objectives</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buNone/>
            </a:pPr>
            <a:r>
              <a:rPr lang="en-IN" b="1" dirty="0">
                <a:latin typeface="Cambria" panose="02040503050406030204" pitchFamily="18" charset="0"/>
                <a:ea typeface="Cambria" panose="02040503050406030204" pitchFamily="18" charset="0"/>
              </a:rPr>
              <a:t>Primary Objective</a:t>
            </a:r>
          </a:p>
          <a:p>
            <a:r>
              <a:rPr lang="en-IN" sz="2200" dirty="0">
                <a:latin typeface="Cambria" panose="02040503050406030204" pitchFamily="18" charset="0"/>
                <a:ea typeface="Cambria" panose="02040503050406030204" pitchFamily="18" charset="0"/>
              </a:rPr>
              <a:t>Develop a unified web-based vulnerability assessment platform.</a:t>
            </a:r>
          </a:p>
          <a:p>
            <a:pPr marL="76200" indent="0">
              <a:buNone/>
            </a:pP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Specific Objectives</a:t>
            </a:r>
          </a:p>
          <a:p>
            <a:pPr lvl="0"/>
            <a:r>
              <a:rPr lang="en-IN" sz="2200" dirty="0">
                <a:latin typeface="Cambria" panose="02040503050406030204" pitchFamily="18" charset="0"/>
                <a:ea typeface="Cambria" panose="02040503050406030204" pitchFamily="18" charset="0"/>
              </a:rPr>
              <a:t>Integration of multiple scanners for any web application vulnerabilities </a:t>
            </a:r>
          </a:p>
          <a:p>
            <a:pPr lvl="0"/>
            <a:r>
              <a:rPr lang="en-IN" sz="2200" dirty="0">
                <a:latin typeface="Cambria" panose="02040503050406030204" pitchFamily="18" charset="0"/>
                <a:ea typeface="Cambria" panose="02040503050406030204" pitchFamily="18" charset="0"/>
              </a:rPr>
              <a:t>Display standardized scan results. </a:t>
            </a:r>
          </a:p>
          <a:p>
            <a:pPr lvl="0"/>
            <a:r>
              <a:rPr lang="en-IN" sz="2200" dirty="0">
                <a:latin typeface="Cambria" panose="02040503050406030204" pitchFamily="18" charset="0"/>
                <a:ea typeface="Cambria" panose="02040503050406030204" pitchFamily="18" charset="0"/>
              </a:rPr>
              <a:t>Improve usability for beginners. </a:t>
            </a:r>
          </a:p>
          <a:p>
            <a:pPr lvl="0"/>
            <a:r>
              <a:rPr lang="en-IN" sz="2200" dirty="0">
                <a:latin typeface="Cambria" panose="02040503050406030204" pitchFamily="18" charset="0"/>
                <a:ea typeface="Cambria" panose="02040503050406030204" pitchFamily="18" charset="0"/>
              </a:rPr>
              <a:t>Provide an extensible architecture for future scanners</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655500"/>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Existing Methods and Drawbacks</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IN" b="1" dirty="0">
                <a:latin typeface="Cambria" panose="02040503050406030204" pitchFamily="18" charset="0"/>
                <a:ea typeface="Cambria" panose="02040503050406030204" pitchFamily="18" charset="0"/>
              </a:rPr>
              <a:t>Existing Tools</a:t>
            </a:r>
          </a:p>
          <a:p>
            <a:pPr lvl="0"/>
            <a:r>
              <a:rPr lang="en-IN" sz="2200" dirty="0">
                <a:latin typeface="Cambria" panose="02040503050406030204" pitchFamily="18" charset="0"/>
                <a:ea typeface="Cambria" panose="02040503050406030204" pitchFamily="18" charset="0"/>
              </a:rPr>
              <a:t>Nmap </a:t>
            </a:r>
          </a:p>
          <a:p>
            <a:pPr lvl="0"/>
            <a:r>
              <a:rPr lang="en-IN" sz="2200" dirty="0">
                <a:latin typeface="Cambria" panose="02040503050406030204" pitchFamily="18" charset="0"/>
                <a:ea typeface="Cambria" panose="02040503050406030204" pitchFamily="18" charset="0"/>
              </a:rPr>
              <a:t>Nuclei </a:t>
            </a:r>
          </a:p>
          <a:p>
            <a:pPr lvl="0"/>
            <a:r>
              <a:rPr lang="en-IN" sz="2200" dirty="0">
                <a:latin typeface="Cambria" panose="02040503050406030204" pitchFamily="18" charset="0"/>
                <a:ea typeface="Cambria" panose="02040503050406030204" pitchFamily="18" charset="0"/>
              </a:rPr>
              <a:t>Nessus </a:t>
            </a:r>
          </a:p>
          <a:p>
            <a:pPr lvl="0"/>
            <a:r>
              <a:rPr lang="en-IN" sz="2200" dirty="0">
                <a:latin typeface="Cambria" panose="02040503050406030204" pitchFamily="18" charset="0"/>
                <a:ea typeface="Cambria" panose="02040503050406030204" pitchFamily="18" charset="0"/>
              </a:rPr>
              <a:t>OpenVAS </a:t>
            </a:r>
          </a:p>
          <a:p>
            <a:pPr marL="76200" lvl="0" indent="0">
              <a:buNone/>
            </a:pP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Drawbacks</a:t>
            </a:r>
          </a:p>
          <a:p>
            <a:pPr lvl="0"/>
            <a:r>
              <a:rPr lang="en-IN" sz="2200" dirty="0">
                <a:latin typeface="Cambria" panose="02040503050406030204" pitchFamily="18" charset="0"/>
                <a:ea typeface="Cambria" panose="02040503050406030204" pitchFamily="18" charset="0"/>
              </a:rPr>
              <a:t>Separate installation </a:t>
            </a:r>
          </a:p>
          <a:p>
            <a:pPr lvl="0"/>
            <a:r>
              <a:rPr lang="en-IN" sz="2200" dirty="0">
                <a:latin typeface="Cambria" panose="02040503050406030204" pitchFamily="18" charset="0"/>
                <a:ea typeface="Cambria" panose="02040503050406030204" pitchFamily="18" charset="0"/>
              </a:rPr>
              <a:t>Different command syntax </a:t>
            </a:r>
          </a:p>
          <a:p>
            <a:pPr lvl="0"/>
            <a:r>
              <a:rPr lang="en-IN" sz="2200" dirty="0">
                <a:latin typeface="Cambria" panose="02040503050406030204" pitchFamily="18" charset="0"/>
                <a:ea typeface="Cambria" panose="02040503050406030204" pitchFamily="18" charset="0"/>
              </a:rPr>
              <a:t>Different report formats </a:t>
            </a:r>
          </a:p>
          <a:p>
            <a:pPr lvl="0"/>
            <a:r>
              <a:rPr lang="en-IN" sz="2200" dirty="0">
                <a:latin typeface="Cambria" panose="02040503050406030204" pitchFamily="18" charset="0"/>
                <a:ea typeface="Cambria" panose="02040503050406030204" pitchFamily="18" charset="0"/>
              </a:rPr>
              <a:t>Manual analysis </a:t>
            </a:r>
          </a:p>
          <a:p>
            <a:pPr lvl="0"/>
            <a:r>
              <a:rPr lang="en-IN" sz="2200" dirty="0">
                <a:latin typeface="Cambria" panose="02040503050406030204" pitchFamily="18" charset="0"/>
                <a:ea typeface="Cambria" panose="02040503050406030204" pitchFamily="18" charset="0"/>
              </a:rPr>
              <a:t>No centralized interface</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7B03-8D4E-9127-6ED8-C66FC0EF7D17}"/>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Proposed Methods</a:t>
            </a:r>
            <a:endParaRPr lang="en-IN" dirty="0"/>
          </a:p>
        </p:txBody>
      </p:sp>
      <p:sp>
        <p:nvSpPr>
          <p:cNvPr id="3" name="Text Placeholder 2">
            <a:extLst>
              <a:ext uri="{FF2B5EF4-FFF2-40B4-BE49-F238E27FC236}">
                <a16:creationId xmlns:a16="http://schemas.microsoft.com/office/drawing/2014/main" id="{259FED31-D1FA-DB7E-E64D-8FBEC3D68676}"/>
              </a:ext>
            </a:extLst>
          </p:cNvPr>
          <p:cNvSpPr>
            <a:spLocks noGrp="1"/>
          </p:cNvSpPr>
          <p:nvPr>
            <p:ph type="body" idx="1"/>
          </p:nvPr>
        </p:nvSpPr>
        <p:spPr/>
        <p:txBody>
          <a:bodyPr/>
          <a:lstStyle/>
          <a:p>
            <a:pPr lvl="0"/>
            <a:r>
              <a:rPr lang="en-IN" dirty="0">
                <a:latin typeface="Cambria" panose="02040503050406030204" pitchFamily="18" charset="0"/>
                <a:ea typeface="Cambria" panose="02040503050406030204" pitchFamily="18" charset="0"/>
              </a:rPr>
              <a:t>Develop a web-based Unified Security Scanner. </a:t>
            </a:r>
          </a:p>
          <a:p>
            <a:pPr lvl="0"/>
            <a:r>
              <a:rPr lang="en-IN" dirty="0">
                <a:latin typeface="Cambria" panose="02040503050406030204" pitchFamily="18" charset="0"/>
                <a:ea typeface="Cambria" panose="02040503050406030204" pitchFamily="18" charset="0"/>
              </a:rPr>
              <a:t>Provide a single interface for multiple security scanners. </a:t>
            </a:r>
          </a:p>
          <a:p>
            <a:pPr lvl="0"/>
            <a:r>
              <a:rPr lang="en-IN" dirty="0">
                <a:latin typeface="Cambria" panose="02040503050406030204" pitchFamily="18" charset="0"/>
                <a:ea typeface="Cambria" panose="02040503050406030204" pitchFamily="18" charset="0"/>
              </a:rPr>
              <a:t>Accept user input (scanner selection and target). </a:t>
            </a:r>
          </a:p>
          <a:p>
            <a:pPr lvl="0"/>
            <a:r>
              <a:rPr lang="en-IN" dirty="0">
                <a:latin typeface="Cambria" panose="02040503050406030204" pitchFamily="18" charset="0"/>
                <a:ea typeface="Cambria" panose="02040503050406030204" pitchFamily="18" charset="0"/>
              </a:rPr>
              <a:t>Execute the selected scanner through the </a:t>
            </a:r>
            <a:r>
              <a:rPr lang="en-IN" dirty="0" err="1">
                <a:latin typeface="Cambria" panose="02040503050406030204" pitchFamily="18" charset="0"/>
                <a:ea typeface="Cambria" panose="02040503050406030204" pitchFamily="18" charset="0"/>
              </a:rPr>
              <a:t>FastAPI</a:t>
            </a:r>
            <a:r>
              <a:rPr lang="en-IN" dirty="0">
                <a:latin typeface="Cambria" panose="02040503050406030204" pitchFamily="18" charset="0"/>
                <a:ea typeface="Cambria" panose="02040503050406030204" pitchFamily="18" charset="0"/>
              </a:rPr>
              <a:t> backend. </a:t>
            </a:r>
          </a:p>
          <a:p>
            <a:pPr lvl="0"/>
            <a:r>
              <a:rPr lang="en-IN" dirty="0">
                <a:latin typeface="Cambria" panose="02040503050406030204" pitchFamily="18" charset="0"/>
                <a:ea typeface="Cambria" panose="02040503050406030204" pitchFamily="18" charset="0"/>
              </a:rPr>
              <a:t>Parse scanner outputs into a common format. </a:t>
            </a:r>
          </a:p>
          <a:p>
            <a:pPr lvl="0"/>
            <a:r>
              <a:rPr lang="en-IN" dirty="0">
                <a:latin typeface="Cambria" panose="02040503050406030204" pitchFamily="18" charset="0"/>
                <a:ea typeface="Cambria" panose="02040503050406030204" pitchFamily="18" charset="0"/>
              </a:rPr>
              <a:t>Display vulnerability details in a unified dashboard. </a:t>
            </a:r>
          </a:p>
          <a:p>
            <a:pPr marL="76200" indent="0">
              <a:buNone/>
            </a:pPr>
            <a:endParaRPr lang="en-IN" dirty="0"/>
          </a:p>
        </p:txBody>
      </p:sp>
    </p:spTree>
    <p:extLst>
      <p:ext uri="{BB962C8B-B14F-4D97-AF65-F5344CB8AC3E}">
        <p14:creationId xmlns:p14="http://schemas.microsoft.com/office/powerpoint/2010/main" val="941569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22632" y="655501"/>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Feasibility Study</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22632" y="558800"/>
            <a:ext cx="10668000" cy="5537200"/>
          </a:xfrm>
          <a:prstGeom prst="rect">
            <a:avLst/>
          </a:prstGeom>
          <a:noFill/>
          <a:ln>
            <a:noFill/>
          </a:ln>
        </p:spPr>
        <p:txBody>
          <a:bodyPr spcFirstLastPara="1" wrap="square" lIns="91425" tIns="45700" rIns="91425" bIns="45700" anchor="t" anchorCtr="0">
            <a:normAutofit/>
          </a:bodyPr>
          <a:lstStyle/>
          <a:p>
            <a:pPr marL="76200" indent="0">
              <a:buNone/>
            </a:pPr>
            <a:endParaRPr lang="en-US"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Technical Feasibility</a:t>
            </a:r>
          </a:p>
          <a:p>
            <a:pPr lvl="0"/>
            <a:r>
              <a:rPr lang="en-IN" sz="2200" dirty="0">
                <a:latin typeface="Cambria" panose="02040503050406030204" pitchFamily="18" charset="0"/>
                <a:ea typeface="Cambria" panose="02040503050406030204" pitchFamily="18" charset="0"/>
              </a:rPr>
              <a:t>ReactJS </a:t>
            </a:r>
          </a:p>
          <a:p>
            <a:pPr lvl="0"/>
            <a:r>
              <a:rPr lang="en-IN" sz="2200" dirty="0" err="1">
                <a:latin typeface="Cambria" panose="02040503050406030204" pitchFamily="18" charset="0"/>
                <a:ea typeface="Cambria" panose="02040503050406030204" pitchFamily="18" charset="0"/>
              </a:rPr>
              <a:t>FastAPI</a:t>
            </a:r>
            <a:r>
              <a:rPr lang="en-IN" sz="2200" dirty="0">
                <a:latin typeface="Cambria" panose="02040503050406030204" pitchFamily="18" charset="0"/>
                <a:ea typeface="Cambria" panose="02040503050406030204" pitchFamily="18" charset="0"/>
              </a:rPr>
              <a:t> </a:t>
            </a:r>
          </a:p>
          <a:p>
            <a:pPr lvl="0"/>
            <a:r>
              <a:rPr lang="en-IN" sz="2200" dirty="0">
                <a:latin typeface="Cambria" panose="02040503050406030204" pitchFamily="18" charset="0"/>
                <a:ea typeface="Cambria" panose="02040503050406030204" pitchFamily="18" charset="0"/>
              </a:rPr>
              <a:t>Python </a:t>
            </a:r>
          </a:p>
          <a:p>
            <a:pPr lvl="0"/>
            <a:r>
              <a:rPr lang="en-IN" sz="2200" dirty="0">
                <a:latin typeface="Cambria" panose="02040503050406030204" pitchFamily="18" charset="0"/>
                <a:ea typeface="Cambria" panose="02040503050406030204" pitchFamily="18" charset="0"/>
              </a:rPr>
              <a:t>Multiple scanners </a:t>
            </a:r>
          </a:p>
          <a:p>
            <a:pPr marL="76200" lvl="0" indent="0">
              <a:buNone/>
            </a:pP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Operational Feasibility</a:t>
            </a:r>
          </a:p>
          <a:p>
            <a:pPr lvl="0"/>
            <a:r>
              <a:rPr lang="en-IN" sz="2200" dirty="0">
                <a:latin typeface="Cambria" panose="02040503050406030204" pitchFamily="18" charset="0"/>
                <a:ea typeface="Cambria" panose="02040503050406030204" pitchFamily="18" charset="0"/>
              </a:rPr>
              <a:t>Easy to use </a:t>
            </a:r>
          </a:p>
          <a:p>
            <a:pPr lvl="0"/>
            <a:r>
              <a:rPr lang="en-IN" sz="2200" dirty="0">
                <a:latin typeface="Cambria" panose="02040503050406030204" pitchFamily="18" charset="0"/>
                <a:ea typeface="Cambria" panose="02040503050406030204" pitchFamily="18" charset="0"/>
              </a:rPr>
              <a:t>Minimal user training </a:t>
            </a:r>
          </a:p>
          <a:p>
            <a:pPr lvl="0"/>
            <a:r>
              <a:rPr lang="en-IN" sz="2200" dirty="0">
                <a:latin typeface="Cambria" panose="02040503050406030204" pitchFamily="18" charset="0"/>
                <a:ea typeface="Cambria" panose="02040503050406030204" pitchFamily="18" charset="0"/>
              </a:rPr>
              <a:t>Simple deployment </a:t>
            </a:r>
          </a:p>
          <a:p>
            <a:pPr marL="76200" indent="0">
              <a:buNone/>
            </a:pPr>
            <a:endParaRPr lang="en-IN"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r>
              <a:rPr lang="en-IN" dirty="0">
                <a:latin typeface="Cambria" panose="02040503050406030204" pitchFamily="18" charset="0"/>
                <a:ea typeface="Cambria" panose="02040503050406030204" pitchFamily="18" charset="0"/>
              </a:rPr>
              <a:t>System Architecture</a:t>
            </a:r>
            <a:endParaRPr lang="en-US" dirty="0">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3900FBA1-D691-D09D-6AC6-518E2CB17D3B}"/>
              </a:ext>
            </a:extLst>
          </p:cNvPr>
          <p:cNvPicPr>
            <a:picLocks noChangeAspect="1"/>
          </p:cNvPicPr>
          <p:nvPr/>
        </p:nvPicPr>
        <p:blipFill>
          <a:blip r:embed="rId3"/>
          <a:stretch>
            <a:fillRect/>
          </a:stretch>
        </p:blipFill>
        <p:spPr>
          <a:xfrm>
            <a:off x="1818968" y="993057"/>
            <a:ext cx="8308258" cy="5102943"/>
          </a:xfrm>
          <a:prstGeom prst="rect">
            <a:avLst/>
          </a:prstGeom>
        </p:spPr>
      </p:pic>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ED42B-CBA5-393C-377B-9B0EA9FFE5ED}"/>
              </a:ext>
            </a:extLst>
          </p:cNvPr>
          <p:cNvSpPr>
            <a:spLocks noGrp="1"/>
          </p:cNvSpPr>
          <p:nvPr>
            <p:ph type="title"/>
          </p:nvPr>
        </p:nvSpPr>
        <p:spPr>
          <a:xfrm>
            <a:off x="812800" y="518249"/>
            <a:ext cx="10668000" cy="487500"/>
          </a:xfrm>
        </p:spPr>
        <p:txBody>
          <a:bodyPr/>
          <a:lstStyle/>
          <a:p>
            <a:r>
              <a:rPr lang="en-US" dirty="0">
                <a:latin typeface="Cambria" panose="02040503050406030204" pitchFamily="18" charset="0"/>
                <a:ea typeface="Cambria" panose="02040503050406030204" pitchFamily="18" charset="0"/>
              </a:rPr>
              <a:t>Modules</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E4980D65-BDF5-C871-3F12-374C649112FC}"/>
              </a:ext>
            </a:extLst>
          </p:cNvPr>
          <p:cNvSpPr>
            <a:spLocks noGrp="1"/>
          </p:cNvSpPr>
          <p:nvPr>
            <p:ph type="body" idx="1"/>
          </p:nvPr>
        </p:nvSpPr>
        <p:spPr/>
        <p:txBody>
          <a:bodyPr>
            <a:normAutofit/>
          </a:bodyPr>
          <a:lstStyle/>
          <a:p>
            <a:pPr marL="76200" indent="0">
              <a:buNone/>
            </a:pPr>
            <a:r>
              <a:rPr lang="en-IN" b="1" dirty="0">
                <a:latin typeface="Cambria" panose="02040503050406030204" pitchFamily="18" charset="0"/>
                <a:ea typeface="Cambria" panose="02040503050406030204" pitchFamily="18" charset="0"/>
              </a:rPr>
              <a:t>Module 1 - Frontend</a:t>
            </a:r>
          </a:p>
          <a:p>
            <a:pPr lvl="0"/>
            <a:r>
              <a:rPr lang="en-IN" sz="2200" dirty="0">
                <a:latin typeface="Cambria" panose="02040503050406030204" pitchFamily="18" charset="0"/>
                <a:ea typeface="Cambria" panose="02040503050406030204" pitchFamily="18" charset="0"/>
              </a:rPr>
              <a:t>User Interface </a:t>
            </a:r>
          </a:p>
          <a:p>
            <a:pPr lvl="0"/>
            <a:r>
              <a:rPr lang="en-IN" sz="2200" dirty="0">
                <a:latin typeface="Cambria" panose="02040503050406030204" pitchFamily="18" charset="0"/>
                <a:ea typeface="Cambria" panose="02040503050406030204" pitchFamily="18" charset="0"/>
              </a:rPr>
              <a:t>Scanner Selection </a:t>
            </a:r>
          </a:p>
          <a:p>
            <a:pPr lvl="0"/>
            <a:r>
              <a:rPr lang="en-IN" sz="2200" dirty="0">
                <a:latin typeface="Cambria" panose="02040503050406030204" pitchFamily="18" charset="0"/>
                <a:ea typeface="Cambria" panose="02040503050406030204" pitchFamily="18" charset="0"/>
              </a:rPr>
              <a:t>Target Input </a:t>
            </a:r>
          </a:p>
          <a:p>
            <a:pPr marL="76200" indent="0">
              <a:buNone/>
            </a:pPr>
            <a:br>
              <a:rPr lang="en-IN" sz="2200" dirty="0">
                <a:latin typeface="Cambria" panose="02040503050406030204" pitchFamily="18" charset="0"/>
                <a:ea typeface="Cambria" panose="02040503050406030204" pitchFamily="18" charset="0"/>
              </a:rPr>
            </a:br>
            <a:endParaRPr lang="en-IN" sz="2200"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Module 2 -Backend</a:t>
            </a:r>
          </a:p>
          <a:p>
            <a:pPr lvl="0"/>
            <a:r>
              <a:rPr lang="en-IN" sz="2200" dirty="0">
                <a:latin typeface="Cambria" panose="02040503050406030204" pitchFamily="18" charset="0"/>
                <a:ea typeface="Cambria" panose="02040503050406030204" pitchFamily="18" charset="0"/>
              </a:rPr>
              <a:t>REST API </a:t>
            </a:r>
          </a:p>
          <a:p>
            <a:pPr lvl="0"/>
            <a:r>
              <a:rPr lang="en-IN" sz="2200" dirty="0">
                <a:latin typeface="Cambria" panose="02040503050406030204" pitchFamily="18" charset="0"/>
                <a:ea typeface="Cambria" panose="02040503050406030204" pitchFamily="18" charset="0"/>
              </a:rPr>
              <a:t>Request Validation </a:t>
            </a:r>
          </a:p>
          <a:p>
            <a:pPr marL="76200" indent="0">
              <a:buNone/>
            </a:pP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2980560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53971-A7F1-E618-DCA4-C565C764612B}"/>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Modules</a:t>
            </a:r>
          </a:p>
        </p:txBody>
      </p:sp>
      <p:sp>
        <p:nvSpPr>
          <p:cNvPr id="3" name="Text Placeholder 2">
            <a:extLst>
              <a:ext uri="{FF2B5EF4-FFF2-40B4-BE49-F238E27FC236}">
                <a16:creationId xmlns:a16="http://schemas.microsoft.com/office/drawing/2014/main" id="{D902822B-4A10-CCC0-450D-3DB06415FF82}"/>
              </a:ext>
            </a:extLst>
          </p:cNvPr>
          <p:cNvSpPr>
            <a:spLocks noGrp="1"/>
          </p:cNvSpPr>
          <p:nvPr>
            <p:ph type="body" idx="1"/>
          </p:nvPr>
        </p:nvSpPr>
        <p:spPr/>
        <p:txBody>
          <a:bodyPr>
            <a:normAutofit fontScale="92500" lnSpcReduction="20000"/>
          </a:bodyPr>
          <a:lstStyle/>
          <a:p>
            <a:pPr marL="76200" indent="0">
              <a:buNone/>
            </a:pPr>
            <a:r>
              <a:rPr lang="en-IN" sz="2600" b="1" dirty="0">
                <a:latin typeface="Cambria" panose="02040503050406030204" pitchFamily="18" charset="0"/>
                <a:ea typeface="Cambria" panose="02040503050406030204" pitchFamily="18" charset="0"/>
              </a:rPr>
              <a:t>Module 3 - Scanner Integration</a:t>
            </a:r>
          </a:p>
          <a:p>
            <a:pPr lvl="0"/>
            <a:r>
              <a:rPr lang="en-IN" dirty="0">
                <a:latin typeface="Cambria" panose="02040503050406030204" pitchFamily="18" charset="0"/>
                <a:ea typeface="Cambria" panose="02040503050406030204" pitchFamily="18" charset="0"/>
              </a:rPr>
              <a:t>Nmap </a:t>
            </a:r>
          </a:p>
          <a:p>
            <a:pPr lvl="0"/>
            <a:r>
              <a:rPr lang="en-IN" dirty="0">
                <a:latin typeface="Cambria" panose="02040503050406030204" pitchFamily="18" charset="0"/>
                <a:ea typeface="Cambria" panose="02040503050406030204" pitchFamily="18" charset="0"/>
              </a:rPr>
              <a:t>Nuclei </a:t>
            </a:r>
          </a:p>
          <a:p>
            <a:pPr lvl="0"/>
            <a:r>
              <a:rPr lang="en-IN" dirty="0">
                <a:latin typeface="Cambria" panose="02040503050406030204" pitchFamily="18" charset="0"/>
                <a:ea typeface="Cambria" panose="02040503050406030204" pitchFamily="18" charset="0"/>
              </a:rPr>
              <a:t>Nessus</a:t>
            </a:r>
          </a:p>
          <a:p>
            <a:pPr lvl="0"/>
            <a:r>
              <a:rPr lang="en-IN" dirty="0">
                <a:latin typeface="Cambria" panose="02040503050406030204" pitchFamily="18" charset="0"/>
                <a:ea typeface="Cambria" panose="02040503050406030204" pitchFamily="18" charset="0"/>
              </a:rPr>
              <a:t>OpenVAS</a:t>
            </a:r>
          </a:p>
          <a:p>
            <a:pPr marL="76200" indent="0">
              <a:buNone/>
            </a:pPr>
            <a:br>
              <a:rPr lang="en-IN" sz="2900" dirty="0">
                <a:latin typeface="Cambria" panose="02040503050406030204" pitchFamily="18" charset="0"/>
                <a:ea typeface="Cambria" panose="02040503050406030204" pitchFamily="18" charset="0"/>
              </a:rPr>
            </a:br>
            <a:endParaRPr lang="en-IN" sz="2900" dirty="0">
              <a:latin typeface="Cambria" panose="02040503050406030204" pitchFamily="18" charset="0"/>
              <a:ea typeface="Cambria" panose="02040503050406030204" pitchFamily="18" charset="0"/>
            </a:endParaRPr>
          </a:p>
          <a:p>
            <a:pPr marL="76200" indent="0">
              <a:buNone/>
            </a:pPr>
            <a:r>
              <a:rPr lang="en-IN" sz="2600" b="1" dirty="0">
                <a:latin typeface="Cambria" panose="02040503050406030204" pitchFamily="18" charset="0"/>
                <a:ea typeface="Cambria" panose="02040503050406030204" pitchFamily="18" charset="0"/>
              </a:rPr>
              <a:t>Module 4 - Output Processing </a:t>
            </a:r>
          </a:p>
          <a:p>
            <a:pPr lvl="0"/>
            <a:r>
              <a:rPr lang="en-IN" dirty="0">
                <a:latin typeface="Cambria" panose="02040503050406030204" pitchFamily="18" charset="0"/>
                <a:ea typeface="Cambria" panose="02040503050406030204" pitchFamily="18" charset="0"/>
              </a:rPr>
              <a:t>Parse scanner output </a:t>
            </a:r>
          </a:p>
          <a:p>
            <a:pPr lvl="0"/>
            <a:r>
              <a:rPr lang="en-IN" dirty="0">
                <a:latin typeface="Cambria" panose="02040503050406030204" pitchFamily="18" charset="0"/>
                <a:ea typeface="Cambria" panose="02040503050406030204" pitchFamily="18" charset="0"/>
              </a:rPr>
              <a:t>Standardize findings </a:t>
            </a:r>
          </a:p>
          <a:p>
            <a:pPr lvl="0"/>
            <a:r>
              <a:rPr lang="en-IN" dirty="0">
                <a:latin typeface="Cambria" panose="02040503050406030204" pitchFamily="18" charset="0"/>
                <a:ea typeface="Cambria" panose="02040503050406030204" pitchFamily="18" charset="0"/>
              </a:rPr>
              <a:t>Display vulnerabilities and Severity</a:t>
            </a:r>
          </a:p>
          <a:p>
            <a:pPr lvl="0"/>
            <a:r>
              <a:rPr lang="en-IN" dirty="0">
                <a:latin typeface="Cambria" panose="02040503050406030204" pitchFamily="18" charset="0"/>
                <a:ea typeface="Cambria" panose="02040503050406030204" pitchFamily="18" charset="0"/>
              </a:rPr>
              <a:t>Description</a:t>
            </a:r>
          </a:p>
          <a:p>
            <a:pPr marL="76200" indent="0">
              <a:buNone/>
            </a:pPr>
            <a:br>
              <a:rPr lang="en-IN" sz="2900" dirty="0">
                <a:latin typeface="Cambria" panose="02040503050406030204" pitchFamily="18" charset="0"/>
                <a:ea typeface="Cambria" panose="02040503050406030204" pitchFamily="18" charset="0"/>
              </a:rPr>
            </a:br>
            <a:endParaRPr lang="en-IN" dirty="0"/>
          </a:p>
        </p:txBody>
      </p:sp>
    </p:spTree>
    <p:extLst>
      <p:ext uri="{BB962C8B-B14F-4D97-AF65-F5344CB8AC3E}">
        <p14:creationId xmlns:p14="http://schemas.microsoft.com/office/powerpoint/2010/main" val="1436201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C775-85A1-618A-BC2E-3A247F939219}"/>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Hardware &amp; Software</a:t>
            </a:r>
          </a:p>
        </p:txBody>
      </p:sp>
      <p:sp>
        <p:nvSpPr>
          <p:cNvPr id="3" name="Text Placeholder 2">
            <a:extLst>
              <a:ext uri="{FF2B5EF4-FFF2-40B4-BE49-F238E27FC236}">
                <a16:creationId xmlns:a16="http://schemas.microsoft.com/office/drawing/2014/main" id="{CA5365F5-602F-6C72-4312-620C037B18F7}"/>
              </a:ext>
            </a:extLst>
          </p:cNvPr>
          <p:cNvSpPr>
            <a:spLocks noGrp="1"/>
          </p:cNvSpPr>
          <p:nvPr>
            <p:ph type="body" idx="1"/>
          </p:nvPr>
        </p:nvSpPr>
        <p:spPr/>
        <p:txBody>
          <a:bodyPr>
            <a:normAutofit/>
          </a:bodyPr>
          <a:lstStyle/>
          <a:p>
            <a:pPr marL="76200" indent="0">
              <a:buNone/>
            </a:pPr>
            <a:r>
              <a:rPr lang="en-IN" b="1" dirty="0">
                <a:latin typeface="Cambria" panose="02040503050406030204" pitchFamily="18" charset="0"/>
                <a:ea typeface="Cambria" panose="02040503050406030204" pitchFamily="18" charset="0"/>
              </a:rPr>
              <a:t>Hardware</a:t>
            </a:r>
          </a:p>
          <a:p>
            <a:pPr lvl="0"/>
            <a:r>
              <a:rPr lang="en-IN" sz="2200" dirty="0">
                <a:latin typeface="Cambria" panose="02040503050406030204" pitchFamily="18" charset="0"/>
                <a:ea typeface="Cambria" panose="02040503050406030204" pitchFamily="18" charset="0"/>
              </a:rPr>
              <a:t>Intel Core i5 Processor </a:t>
            </a:r>
          </a:p>
          <a:p>
            <a:pPr lvl="0"/>
            <a:r>
              <a:rPr lang="en-IN" sz="2200" dirty="0">
                <a:latin typeface="Cambria" panose="02040503050406030204" pitchFamily="18" charset="0"/>
                <a:ea typeface="Cambria" panose="02040503050406030204" pitchFamily="18" charset="0"/>
              </a:rPr>
              <a:t>8 GB RAM </a:t>
            </a:r>
          </a:p>
          <a:p>
            <a:pPr lvl="0"/>
            <a:r>
              <a:rPr lang="en-IN" sz="2200" dirty="0">
                <a:latin typeface="Cambria" panose="02040503050406030204" pitchFamily="18" charset="0"/>
                <a:ea typeface="Cambria" panose="02040503050406030204" pitchFamily="18" charset="0"/>
              </a:rPr>
              <a:t>Windows 11 </a:t>
            </a: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Software</a:t>
            </a:r>
          </a:p>
          <a:p>
            <a:pPr lvl="0"/>
            <a:r>
              <a:rPr lang="en-IN" sz="2200" dirty="0">
                <a:latin typeface="Cambria" panose="02040503050406030204" pitchFamily="18" charset="0"/>
                <a:ea typeface="Cambria" panose="02040503050406030204" pitchFamily="18" charset="0"/>
              </a:rPr>
              <a:t>Python 3.12 </a:t>
            </a:r>
          </a:p>
          <a:p>
            <a:pPr lvl="0"/>
            <a:r>
              <a:rPr lang="en-IN" sz="2200" dirty="0" err="1">
                <a:latin typeface="Cambria" panose="02040503050406030204" pitchFamily="18" charset="0"/>
                <a:ea typeface="Cambria" panose="02040503050406030204" pitchFamily="18" charset="0"/>
              </a:rPr>
              <a:t>FastAPI</a:t>
            </a:r>
            <a:r>
              <a:rPr lang="en-IN" sz="2200" dirty="0">
                <a:latin typeface="Cambria" panose="02040503050406030204" pitchFamily="18" charset="0"/>
                <a:ea typeface="Cambria" panose="02040503050406030204" pitchFamily="18" charset="0"/>
              </a:rPr>
              <a:t> </a:t>
            </a:r>
          </a:p>
          <a:p>
            <a:pPr lvl="0"/>
            <a:r>
              <a:rPr lang="en-IN" sz="2200" dirty="0">
                <a:latin typeface="Cambria" panose="02040503050406030204" pitchFamily="18" charset="0"/>
                <a:ea typeface="Cambria" panose="02040503050406030204" pitchFamily="18" charset="0"/>
              </a:rPr>
              <a:t>ReactJS </a:t>
            </a:r>
          </a:p>
          <a:p>
            <a:pPr lvl="0"/>
            <a:r>
              <a:rPr lang="en-IN" sz="2200" dirty="0">
                <a:latin typeface="Cambria" panose="02040503050406030204" pitchFamily="18" charset="0"/>
                <a:ea typeface="Cambria" panose="02040503050406030204" pitchFamily="18" charset="0"/>
              </a:rPr>
              <a:t>MySQL</a:t>
            </a:r>
          </a:p>
          <a:p>
            <a:pPr lvl="0"/>
            <a:r>
              <a:rPr lang="en-IN" sz="2200" dirty="0">
                <a:latin typeface="Cambria" panose="02040503050406030204" pitchFamily="18" charset="0"/>
                <a:ea typeface="Cambria" panose="02040503050406030204" pitchFamily="18" charset="0"/>
              </a:rPr>
              <a:t>Large Language Model</a:t>
            </a:r>
          </a:p>
          <a:p>
            <a:pPr lvl="0"/>
            <a:r>
              <a:rPr lang="en-IN" sz="2200" dirty="0" err="1">
                <a:latin typeface="Cambria" panose="02040503050406030204" pitchFamily="18" charset="0"/>
                <a:ea typeface="Cambria" panose="02040503050406030204" pitchFamily="18" charset="0"/>
              </a:rPr>
              <a:t>Github</a:t>
            </a:r>
            <a:r>
              <a:rPr lang="en-IN" sz="2200" dirty="0">
                <a:latin typeface="Cambria" panose="02040503050406030204" pitchFamily="18" charset="0"/>
                <a:ea typeface="Cambria" panose="02040503050406030204" pitchFamily="18" charset="0"/>
              </a:rPr>
              <a:t> </a:t>
            </a:r>
          </a:p>
          <a:p>
            <a:pPr marL="76200" lvl="0" indent="0">
              <a:buNone/>
            </a:pPr>
            <a:endParaRPr lang="en-IN" sz="2200" dirty="0">
              <a:latin typeface="Cambria" panose="02040503050406030204" pitchFamily="18" charset="0"/>
              <a:ea typeface="Cambria" panose="02040503050406030204" pitchFamily="18" charset="0"/>
            </a:endParaRPr>
          </a:p>
          <a:p>
            <a:pPr lvl="0"/>
            <a:endParaRPr lang="en-IN"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952367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0C88B981-3D7C-5F50-53F4-BE48E013C125}"/>
              </a:ext>
            </a:extLst>
          </p:cNvPr>
          <p:cNvGraphicFramePr>
            <a:graphicFrameLocks noGrp="1"/>
          </p:cNvGraphicFramePr>
          <p:nvPr>
            <p:extLst>
              <p:ext uri="{D42A27DB-BD31-4B8C-83A1-F6EECF244321}">
                <p14:modId xmlns:p14="http://schemas.microsoft.com/office/powerpoint/2010/main" val="899422675"/>
              </p:ext>
            </p:extLst>
          </p:nvPr>
        </p:nvGraphicFramePr>
        <p:xfrm>
          <a:off x="812801" y="1022555"/>
          <a:ext cx="10307479" cy="4945625"/>
        </p:xfrm>
        <a:graphic>
          <a:graphicData uri="http://schemas.openxmlformats.org/drawingml/2006/table">
            <a:tbl>
              <a:tblPr>
                <a:tableStyleId>{3C2FFA5D-87B4-456A-9821-1D502468CF0F}</a:tableStyleId>
              </a:tblPr>
              <a:tblGrid>
                <a:gridCol w="1731229">
                  <a:extLst>
                    <a:ext uri="{9D8B030D-6E8A-4147-A177-3AD203B41FA5}">
                      <a16:colId xmlns:a16="http://schemas.microsoft.com/office/drawing/2014/main" val="1306862707"/>
                    </a:ext>
                  </a:extLst>
                </a:gridCol>
                <a:gridCol w="857625">
                  <a:extLst>
                    <a:ext uri="{9D8B030D-6E8A-4147-A177-3AD203B41FA5}">
                      <a16:colId xmlns:a16="http://schemas.microsoft.com/office/drawing/2014/main" val="2502647449"/>
                    </a:ext>
                  </a:extLst>
                </a:gridCol>
                <a:gridCol w="857625">
                  <a:extLst>
                    <a:ext uri="{9D8B030D-6E8A-4147-A177-3AD203B41FA5}">
                      <a16:colId xmlns:a16="http://schemas.microsoft.com/office/drawing/2014/main" val="1460982142"/>
                    </a:ext>
                  </a:extLst>
                </a:gridCol>
                <a:gridCol w="857625">
                  <a:extLst>
                    <a:ext uri="{9D8B030D-6E8A-4147-A177-3AD203B41FA5}">
                      <a16:colId xmlns:a16="http://schemas.microsoft.com/office/drawing/2014/main" val="1062272823"/>
                    </a:ext>
                  </a:extLst>
                </a:gridCol>
                <a:gridCol w="782450">
                  <a:extLst>
                    <a:ext uri="{9D8B030D-6E8A-4147-A177-3AD203B41FA5}">
                      <a16:colId xmlns:a16="http://schemas.microsoft.com/office/drawing/2014/main" val="3951243447"/>
                    </a:ext>
                  </a:extLst>
                </a:gridCol>
                <a:gridCol w="932800">
                  <a:extLst>
                    <a:ext uri="{9D8B030D-6E8A-4147-A177-3AD203B41FA5}">
                      <a16:colId xmlns:a16="http://schemas.microsoft.com/office/drawing/2014/main" val="3286461512"/>
                    </a:ext>
                  </a:extLst>
                </a:gridCol>
                <a:gridCol w="857625">
                  <a:extLst>
                    <a:ext uri="{9D8B030D-6E8A-4147-A177-3AD203B41FA5}">
                      <a16:colId xmlns:a16="http://schemas.microsoft.com/office/drawing/2014/main" val="4280519845"/>
                    </a:ext>
                  </a:extLst>
                </a:gridCol>
                <a:gridCol w="857625">
                  <a:extLst>
                    <a:ext uri="{9D8B030D-6E8A-4147-A177-3AD203B41FA5}">
                      <a16:colId xmlns:a16="http://schemas.microsoft.com/office/drawing/2014/main" val="525183294"/>
                    </a:ext>
                  </a:extLst>
                </a:gridCol>
                <a:gridCol w="857625">
                  <a:extLst>
                    <a:ext uri="{9D8B030D-6E8A-4147-A177-3AD203B41FA5}">
                      <a16:colId xmlns:a16="http://schemas.microsoft.com/office/drawing/2014/main" val="494670611"/>
                    </a:ext>
                  </a:extLst>
                </a:gridCol>
                <a:gridCol w="857625">
                  <a:extLst>
                    <a:ext uri="{9D8B030D-6E8A-4147-A177-3AD203B41FA5}">
                      <a16:colId xmlns:a16="http://schemas.microsoft.com/office/drawing/2014/main" val="421958838"/>
                    </a:ext>
                  </a:extLst>
                </a:gridCol>
                <a:gridCol w="857625">
                  <a:extLst>
                    <a:ext uri="{9D8B030D-6E8A-4147-A177-3AD203B41FA5}">
                      <a16:colId xmlns:a16="http://schemas.microsoft.com/office/drawing/2014/main" val="526712320"/>
                    </a:ext>
                  </a:extLst>
                </a:gridCol>
              </a:tblGrid>
              <a:tr h="310098">
                <a:tc>
                  <a:txBody>
                    <a:bodyPr/>
                    <a:lstStyle/>
                    <a:p>
                      <a:pPr>
                        <a:buNone/>
                      </a:pPr>
                      <a:r>
                        <a:rPr lang="en-IN"/>
                        <a:t>Activity</a:t>
                      </a:r>
                    </a:p>
                  </a:txBody>
                  <a:tcPr anchor="ctr"/>
                </a:tc>
                <a:tc>
                  <a:txBody>
                    <a:bodyPr/>
                    <a:lstStyle/>
                    <a:p>
                      <a:pPr algn="ctr">
                        <a:buNone/>
                      </a:pPr>
                      <a:r>
                        <a:rPr lang="en-IN"/>
                        <a:t>W1</a:t>
                      </a:r>
                    </a:p>
                  </a:txBody>
                  <a:tcPr anchor="ctr"/>
                </a:tc>
                <a:tc>
                  <a:txBody>
                    <a:bodyPr/>
                    <a:lstStyle/>
                    <a:p>
                      <a:pPr algn="ctr">
                        <a:buNone/>
                      </a:pPr>
                      <a:r>
                        <a:rPr lang="en-IN"/>
                        <a:t>W2</a:t>
                      </a:r>
                    </a:p>
                  </a:txBody>
                  <a:tcPr anchor="ctr"/>
                </a:tc>
                <a:tc>
                  <a:txBody>
                    <a:bodyPr/>
                    <a:lstStyle/>
                    <a:p>
                      <a:pPr algn="ctr">
                        <a:buNone/>
                      </a:pPr>
                      <a:r>
                        <a:rPr lang="en-IN"/>
                        <a:t>W3</a:t>
                      </a:r>
                    </a:p>
                  </a:txBody>
                  <a:tcPr anchor="ctr"/>
                </a:tc>
                <a:tc>
                  <a:txBody>
                    <a:bodyPr/>
                    <a:lstStyle/>
                    <a:p>
                      <a:pPr algn="ctr">
                        <a:buNone/>
                      </a:pPr>
                      <a:r>
                        <a:rPr lang="en-IN"/>
                        <a:t>W4</a:t>
                      </a:r>
                    </a:p>
                  </a:txBody>
                  <a:tcPr anchor="ctr"/>
                </a:tc>
                <a:tc>
                  <a:txBody>
                    <a:bodyPr/>
                    <a:lstStyle/>
                    <a:p>
                      <a:pPr algn="ctr">
                        <a:buNone/>
                      </a:pPr>
                      <a:r>
                        <a:rPr lang="en-IN"/>
                        <a:t>W5</a:t>
                      </a:r>
                    </a:p>
                  </a:txBody>
                  <a:tcPr anchor="ctr"/>
                </a:tc>
                <a:tc>
                  <a:txBody>
                    <a:bodyPr/>
                    <a:lstStyle/>
                    <a:p>
                      <a:pPr algn="ctr">
                        <a:buNone/>
                      </a:pPr>
                      <a:r>
                        <a:rPr lang="en-IN"/>
                        <a:t>W6</a:t>
                      </a:r>
                    </a:p>
                  </a:txBody>
                  <a:tcPr anchor="ctr"/>
                </a:tc>
                <a:tc>
                  <a:txBody>
                    <a:bodyPr/>
                    <a:lstStyle/>
                    <a:p>
                      <a:pPr algn="ctr">
                        <a:buNone/>
                      </a:pPr>
                      <a:r>
                        <a:rPr lang="en-IN"/>
                        <a:t>W7</a:t>
                      </a:r>
                    </a:p>
                  </a:txBody>
                  <a:tcPr anchor="ctr"/>
                </a:tc>
                <a:tc>
                  <a:txBody>
                    <a:bodyPr/>
                    <a:lstStyle/>
                    <a:p>
                      <a:pPr algn="ctr">
                        <a:buNone/>
                      </a:pPr>
                      <a:r>
                        <a:rPr lang="en-IN"/>
                        <a:t>W8</a:t>
                      </a:r>
                    </a:p>
                  </a:txBody>
                  <a:tcPr anchor="ctr"/>
                </a:tc>
                <a:tc>
                  <a:txBody>
                    <a:bodyPr/>
                    <a:lstStyle/>
                    <a:p>
                      <a:pPr algn="ctr">
                        <a:buNone/>
                      </a:pPr>
                      <a:r>
                        <a:rPr lang="en-IN"/>
                        <a:t>W9</a:t>
                      </a:r>
                    </a:p>
                  </a:txBody>
                  <a:tcPr anchor="ctr"/>
                </a:tc>
                <a:tc>
                  <a:txBody>
                    <a:bodyPr/>
                    <a:lstStyle/>
                    <a:p>
                      <a:pPr algn="ctr">
                        <a:buNone/>
                      </a:pPr>
                      <a:r>
                        <a:rPr lang="en-IN"/>
                        <a:t>W10</a:t>
                      </a:r>
                    </a:p>
                  </a:txBody>
                  <a:tcPr anchor="ctr"/>
                </a:tc>
                <a:extLst>
                  <a:ext uri="{0D108BD9-81ED-4DB2-BD59-A6C34878D82A}">
                    <a16:rowId xmlns:a16="http://schemas.microsoft.com/office/drawing/2014/main" val="477217127"/>
                  </a:ext>
                </a:extLst>
              </a:tr>
              <a:tr h="527165">
                <a:tc>
                  <a:txBody>
                    <a:bodyPr/>
                    <a:lstStyle/>
                    <a:p>
                      <a:pPr>
                        <a:buNone/>
                      </a:pPr>
                      <a:r>
                        <a:rPr lang="en-IN" dirty="0"/>
                        <a:t>Literature Survey &amp; Research</a:t>
                      </a:r>
                    </a:p>
                  </a:txBody>
                  <a:tcPr anchor="ctr"/>
                </a:tc>
                <a:tc>
                  <a:txBody>
                    <a:bodyPr/>
                    <a:lstStyle/>
                    <a:p>
                      <a:pPr algn="ctr">
                        <a:buNone/>
                      </a:pPr>
                      <a:r>
                        <a:rPr lang="en-IN" dirty="0"/>
                        <a:t>█</a:t>
                      </a:r>
                    </a:p>
                  </a:txBody>
                  <a:tcPr anchor="ctr"/>
                </a:tc>
                <a:tc>
                  <a:txBody>
                    <a:bodyPr/>
                    <a:lstStyle/>
                    <a:p>
                      <a:pPr algn="ctr">
                        <a:buNone/>
                      </a:pPr>
                      <a:r>
                        <a:rPr lang="en-IN"/>
                        <a: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148153519"/>
                  </a:ext>
                </a:extLst>
              </a:tr>
              <a:tr h="744234">
                <a:tc>
                  <a:txBody>
                    <a:bodyPr/>
                    <a:lstStyle/>
                    <a:p>
                      <a:pPr>
                        <a:buNone/>
                      </a:pPr>
                      <a:r>
                        <a:rPr lang="en-IN"/>
                        <a:t>Requirement Analysis</a:t>
                      </a:r>
                    </a:p>
                  </a:txBody>
                  <a:tcPr anchor="ctr"/>
                </a:tc>
                <a:tc>
                  <a:txBody>
                    <a:bodyPr/>
                    <a:lstStyle/>
                    <a:p>
                      <a:pPr algn="ctr">
                        <a:buNone/>
                      </a:pPr>
                      <a:endParaRPr lang="en-IN" dirty="0"/>
                    </a:p>
                  </a:txBody>
                  <a:tcPr anchor="ctr"/>
                </a:tc>
                <a:tc>
                  <a:txBody>
                    <a:bodyPr/>
                    <a:lstStyle/>
                    <a:p>
                      <a:pPr algn="ctr">
                        <a:buNone/>
                      </a:pPr>
                      <a:r>
                        <a:rPr lang="en-IN"/>
                        <a:t>█</a:t>
                      </a:r>
                    </a:p>
                  </a:txBody>
                  <a:tcPr anchor="ctr"/>
                </a:tc>
                <a:tc>
                  <a:txBody>
                    <a:bodyPr/>
                    <a:lstStyle/>
                    <a:p>
                      <a:pPr algn="ctr">
                        <a:buNone/>
                      </a:pPr>
                      <a:r>
                        <a:rPr lang="en-IN" dirty="0"/>
                        <a: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202231470"/>
                  </a:ext>
                </a:extLst>
              </a:tr>
              <a:tr h="527165">
                <a:tc>
                  <a:txBody>
                    <a:bodyPr/>
                    <a:lstStyle/>
                    <a:p>
                      <a:pPr>
                        <a:buNone/>
                      </a:pPr>
                      <a:r>
                        <a:rPr lang="en-IN" dirty="0"/>
                        <a:t>Architecture Design</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r>
                        <a:rPr lang="en-IN" dirty="0"/>
                        <a: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3245984390"/>
                  </a:ext>
                </a:extLst>
              </a:tr>
              <a:tr h="732987">
                <a:tc>
                  <a:txBody>
                    <a:bodyPr/>
                    <a:lstStyle/>
                    <a:p>
                      <a:pPr>
                        <a:buNone/>
                      </a:pPr>
                      <a:r>
                        <a:rPr lang="en-IN" dirty="0"/>
                        <a:t>Frontend &amp; Backend Development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r>
                        <a:rPr lang="en-IN"/>
                        <a:t>█</a:t>
                      </a:r>
                    </a:p>
                  </a:txBody>
                  <a:tcPr anchor="ctr"/>
                </a:tc>
                <a:tc>
                  <a:txBody>
                    <a:bodyPr/>
                    <a:lstStyle/>
                    <a:p>
                      <a:pPr algn="ctr">
                        <a:buNone/>
                      </a:pPr>
                      <a:r>
                        <a:rPr lang="en-IN"/>
                        <a: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1347312086"/>
                  </a:ext>
                </a:extLst>
              </a:tr>
              <a:tr h="744234">
                <a:tc>
                  <a:txBody>
                    <a:bodyPr/>
                    <a:lstStyle/>
                    <a:p>
                      <a:pPr>
                        <a:buNone/>
                      </a:pPr>
                      <a:r>
                        <a:rPr lang="en-IN" dirty="0"/>
                        <a:t>RAG &amp; AI Integration</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r>
                        <a:rPr lang="en-IN"/>
                        <a:t>█</a:t>
                      </a:r>
                    </a:p>
                  </a:txBody>
                  <a:tcPr anchor="ctr"/>
                </a:tc>
                <a:tc>
                  <a:txBody>
                    <a:bodyPr/>
                    <a:lstStyle/>
                    <a:p>
                      <a:pPr algn="ctr">
                        <a:buNone/>
                      </a:pPr>
                      <a:r>
                        <a:rPr lang="en-IN"/>
                        <a: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3360793996"/>
                  </a:ext>
                </a:extLst>
              </a:tr>
              <a:tr h="305412">
                <a:tc>
                  <a:txBody>
                    <a:bodyPr/>
                    <a:lstStyle/>
                    <a:p>
                      <a:pPr>
                        <a:buNone/>
                      </a:pPr>
                      <a:r>
                        <a:rPr lang="en-IN"/>
                        <a:t>Testing</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r>
                        <a:rPr lang="en-IN"/>
                        <a:t>█</a:t>
                      </a:r>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3229679874"/>
                  </a:ext>
                </a:extLst>
              </a:tr>
              <a:tr h="527165">
                <a:tc>
                  <a:txBody>
                    <a:bodyPr/>
                    <a:lstStyle/>
                    <a:p>
                      <a:pPr>
                        <a:buNone/>
                      </a:pPr>
                      <a:r>
                        <a:rPr lang="en-IN"/>
                        <a:t>Documentation</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r>
                        <a:rPr lang="en-IN"/>
                        <a:t>█</a:t>
                      </a:r>
                    </a:p>
                  </a:txBody>
                  <a:tcPr anchor="ctr"/>
                </a:tc>
                <a:tc>
                  <a:txBody>
                    <a:bodyPr/>
                    <a:lstStyle/>
                    <a:p>
                      <a:pPr algn="ctr">
                        <a:buNone/>
                      </a:pPr>
                      <a:endParaRPr lang="en-IN"/>
                    </a:p>
                  </a:txBody>
                  <a:tcPr anchor="ctr"/>
                </a:tc>
                <a:extLst>
                  <a:ext uri="{0D108BD9-81ED-4DB2-BD59-A6C34878D82A}">
                    <a16:rowId xmlns:a16="http://schemas.microsoft.com/office/drawing/2014/main" val="1365183589"/>
                  </a:ext>
                </a:extLst>
              </a:tr>
              <a:tr h="527165">
                <a:tc>
                  <a:txBody>
                    <a:bodyPr/>
                    <a:lstStyle/>
                    <a:p>
                      <a:pPr>
                        <a:buNone/>
                      </a:pPr>
                      <a:r>
                        <a:rPr lang="en-IN"/>
                        <a:t>Final Review</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dirty="0"/>
                        <a:t>█</a:t>
                      </a:r>
                    </a:p>
                  </a:txBody>
                  <a:tcPr anchor="ctr"/>
                </a:tc>
                <a:extLst>
                  <a:ext uri="{0D108BD9-81ED-4DB2-BD59-A6C34878D82A}">
                    <a16:rowId xmlns:a16="http://schemas.microsoft.com/office/drawing/2014/main" val="2365713154"/>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r>
              <a:rPr lang="en-IN" sz="1200" dirty="0"/>
              <a:t>1. Automation of Nmap Scanning of Information Systems</a:t>
            </a:r>
            <a:br>
              <a:rPr lang="en-IN" sz="1200" dirty="0"/>
            </a:br>
            <a:r>
              <a:rPr lang="en-IN" sz="1200" dirty="0">
                <a:hlinkClick r:id="rId3"/>
              </a:rPr>
              <a:t>https://ieeexplore.ieee.org/document/10496014</a:t>
            </a:r>
            <a:endParaRPr lang="en-IN" sz="1200" dirty="0"/>
          </a:p>
          <a:p>
            <a:r>
              <a:rPr lang="en-IN" sz="1200" dirty="0"/>
              <a:t>2. Web-based Reconnaissance and Vulnerability Scanner: A Review and Proposed Solution</a:t>
            </a:r>
            <a:br>
              <a:rPr lang="en-IN" sz="1200" dirty="0"/>
            </a:br>
            <a:r>
              <a:rPr lang="en-IN" sz="1200" dirty="0">
                <a:hlinkClick r:id="rId4"/>
              </a:rPr>
              <a:t>https://ieeexplore.ieee.org/document/9655963</a:t>
            </a:r>
            <a:endParaRPr lang="en-IN" sz="1200" dirty="0"/>
          </a:p>
          <a:p>
            <a:r>
              <a:rPr lang="en-IN" sz="1200" dirty="0"/>
              <a:t>3. A Comprehensive Detection Approach of Nmap: Principles, Rules and Experiments</a:t>
            </a:r>
            <a:br>
              <a:rPr lang="en-IN" sz="1200" dirty="0"/>
            </a:br>
            <a:r>
              <a:rPr lang="en-IN" sz="1200" dirty="0">
                <a:hlinkClick r:id="rId5"/>
              </a:rPr>
              <a:t>https://ieeexplore.ieee.org/document/9329410</a:t>
            </a:r>
            <a:endParaRPr lang="en-IN" sz="1200" dirty="0"/>
          </a:p>
          <a:p>
            <a:r>
              <a:rPr lang="en-IN" sz="1200" dirty="0"/>
              <a:t>4. Evaluation of Security Vulnerability Scanners for Small and Medium Enterprises Business Networks Resilience Towards Risk Assessment</a:t>
            </a:r>
            <a:br>
              <a:rPr lang="en-IN" sz="1200" dirty="0"/>
            </a:br>
            <a:r>
              <a:rPr lang="en-IN" sz="1200" dirty="0">
                <a:hlinkClick r:id="rId6"/>
              </a:rPr>
              <a:t>https://ieeexplore.ieee.org/document/8873438</a:t>
            </a:r>
            <a:endParaRPr lang="en-IN" sz="1200" dirty="0"/>
          </a:p>
          <a:p>
            <a:r>
              <a:rPr lang="en-IN" sz="1200" dirty="0"/>
              <a:t>5. Research on the LLM-Driven Vulnerability Detection System Using </a:t>
            </a:r>
            <a:r>
              <a:rPr lang="en-IN" sz="1200" dirty="0" err="1"/>
              <a:t>LProtector</a:t>
            </a:r>
            <a:br>
              <a:rPr lang="en-IN" sz="1200" dirty="0"/>
            </a:br>
            <a:r>
              <a:rPr lang="en-IN" sz="1200" dirty="0">
                <a:hlinkClick r:id="rId7"/>
              </a:rPr>
              <a:t>https://ieeexplore.ieee.org/document/10859408</a:t>
            </a:r>
            <a:endParaRPr lang="en-IN" sz="1200" dirty="0"/>
          </a:p>
          <a:p>
            <a:r>
              <a:rPr lang="en-IN" sz="1200" dirty="0"/>
              <a:t>6. Enriching IP Scanning Results with Structured Threat Intelligence Toward Actionable Reconnaissance in Cybersecurity Operations</a:t>
            </a:r>
            <a:br>
              <a:rPr lang="en-IN" sz="1200" dirty="0"/>
            </a:br>
            <a:r>
              <a:rPr lang="en-IN" sz="1200" dirty="0">
                <a:hlinkClick r:id="rId8"/>
              </a:rPr>
              <a:t>https://ieeexplore.ieee.org/document/11208493</a:t>
            </a:r>
            <a:endParaRPr lang="en-IN" sz="1200" dirty="0"/>
          </a:p>
          <a:p>
            <a:r>
              <a:rPr lang="en-IN" sz="1200" dirty="0"/>
              <a:t>7. Vulnerability Management Chaining: An Integrated Framework for Efficient Cybersecurity Risk Prioritization</a:t>
            </a:r>
            <a:br>
              <a:rPr lang="en-IN" sz="1200" dirty="0"/>
            </a:br>
            <a:r>
              <a:rPr lang="en-IN" sz="1200" dirty="0"/>
              <a:t>https://ieeexplore.ieee.org/document/3665768</a:t>
            </a:r>
          </a:p>
          <a:p>
            <a:r>
              <a:rPr lang="en-IN" sz="1200" dirty="0"/>
              <a:t>8. IoT-Scan: Network Reconnaissance for Internet of Things</a:t>
            </a:r>
            <a:br>
              <a:rPr lang="en-IN" sz="1200" dirty="0"/>
            </a:br>
            <a:r>
              <a:rPr lang="en-IN" sz="1200" dirty="0">
                <a:hlinkClick r:id="rId9"/>
              </a:rPr>
              <a:t>https://ieeexplore.ieee.org/document/10299538</a:t>
            </a:r>
            <a:endParaRPr lang="en-IN" sz="1200" dirty="0"/>
          </a:p>
          <a:p>
            <a:r>
              <a:rPr lang="en-IN" sz="1200" dirty="0"/>
              <a:t>9. A Comparative Analysis of Port Scanning Tool Efficacy</a:t>
            </a:r>
            <a:br>
              <a:rPr lang="en-IN" sz="1200" dirty="0"/>
            </a:br>
            <a:r>
              <a:rPr lang="en-IN" sz="1200" dirty="0">
                <a:hlinkClick r:id="rId10"/>
              </a:rPr>
              <a:t>https://ieeexplore.ieee.org/document/10339885</a:t>
            </a:r>
            <a:endParaRPr lang="en-IN" sz="1200" dirty="0"/>
          </a:p>
          <a:p>
            <a:r>
              <a:rPr lang="en-IN" sz="1200" dirty="0"/>
              <a:t>10. </a:t>
            </a:r>
            <a:r>
              <a:rPr lang="en-IN" sz="1200" dirty="0" err="1"/>
              <a:t>RAGSec</a:t>
            </a:r>
            <a:r>
              <a:rPr lang="en-IN" sz="1200" dirty="0"/>
              <a:t>: Retrieval-Augmented Generation for Cybersecurity Threat Intelligence in Enterprise Networks</a:t>
            </a:r>
            <a:br>
              <a:rPr lang="en-IN" sz="1200" dirty="0"/>
            </a:br>
            <a:r>
              <a:rPr lang="en-IN" sz="1200" dirty="0"/>
              <a:t> </a:t>
            </a:r>
            <a:r>
              <a:rPr lang="en-IN" sz="1200" dirty="0">
                <a:hlinkClick r:id="rId11"/>
              </a:rPr>
              <a:t>https://doi.org/10.1109/ICAIC67076.2026.11395762</a:t>
            </a:r>
            <a:endParaRPr lang="en-IN" sz="1200" dirty="0"/>
          </a:p>
          <a:p>
            <a:pPr marL="76200" lvl="0" indent="0">
              <a:buNone/>
            </a:pPr>
            <a:br>
              <a:rPr lang="en-IN" sz="1200" dirty="0"/>
            </a:br>
            <a:endParaRPr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Props1.xml><?xml version="1.0" encoding="utf-8"?>
<ds:datastoreItem xmlns:ds="http://schemas.openxmlformats.org/officeDocument/2006/customXml" ds:itemID="{13D2043A-A905-44DC-A627-E0BB4B155825}">
  <ds:schemaRefs>
    <ds:schemaRef ds:uri="http://schemas.microsoft.com/sharepoint/v3/contenttype/forms"/>
  </ds:schemaRefs>
</ds:datastoreItem>
</file>

<file path=customXml/itemProps2.xml><?xml version="1.0" encoding="utf-8"?>
<ds:datastoreItem xmlns:ds="http://schemas.openxmlformats.org/officeDocument/2006/customXml" ds:itemID="{80799BD1-F224-430F-A4F0-5AAD34602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31A4896-B9C1-4471-B691-16FF8CBFF7E9}">
  <ds:schemaRefs>
    <ds:schemaRef ds:uri="http://purl.org/dc/terms/"/>
    <ds:schemaRef ds:uri="http://www.w3.org/XML/1998/namespace"/>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dcmitype/"/>
    <ds:schemaRef ds:uri="b8676f30-e579-463a-a8aa-821338b00374"/>
    <ds:schemaRef ds:uri="ed62f681-7444-4666-891e-c71d42de2ddf"/>
  </ds:schemaRefs>
</ds:datastoreItem>
</file>

<file path=docProps/app.xml><?xml version="1.0" encoding="utf-8"?>
<Properties xmlns="http://schemas.openxmlformats.org/officeDocument/2006/extended-properties" xmlns:vt="http://schemas.openxmlformats.org/officeDocument/2006/docPropsVTypes">
  <TotalTime>530</TotalTime>
  <Words>850</Words>
  <Application>Microsoft Office PowerPoint</Application>
  <PresentationFormat>Widescreen</PresentationFormat>
  <Paragraphs>216</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Cambria</vt:lpstr>
      <vt:lpstr>Verdana</vt:lpstr>
      <vt:lpstr>Wingdings</vt:lpstr>
      <vt:lpstr>Bioinformatics</vt:lpstr>
      <vt:lpstr>PowerPoint Presentation</vt:lpstr>
      <vt:lpstr>Unified Security Scanner + RAG Assistant</vt:lpstr>
      <vt:lpstr>Content</vt:lpstr>
      <vt:lpstr>Abstract</vt:lpstr>
      <vt:lpstr>Literature Survey </vt:lpstr>
      <vt:lpstr>Objectives </vt:lpstr>
      <vt:lpstr>Existing Methods and Drawbacks </vt:lpstr>
      <vt:lpstr>Proposed Methods</vt:lpstr>
      <vt:lpstr>Feasibility Study </vt:lpstr>
      <vt:lpstr>System Architecture</vt:lpstr>
      <vt:lpstr>Modules </vt:lpstr>
      <vt:lpstr>Modules</vt:lpstr>
      <vt:lpstr>Hardware &amp; Software</vt:lpstr>
      <vt:lpstr>Timeline of the Project (Gantt Chart)</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ROOPASHREE M</cp:lastModifiedBy>
  <cp:revision>48</cp:revision>
  <dcterms:modified xsi:type="dcterms:W3CDTF">2026-08-27T09:50:25Z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