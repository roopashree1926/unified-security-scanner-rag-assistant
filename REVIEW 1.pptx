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7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2" r:id="rId12"/>
    <p:sldId id="271" r:id="rId13"/>
    <p:sldId id="270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reenbone.github.io/" TargetMode="External"/><Relationship Id="rId3" Type="http://schemas.openxmlformats.org/officeDocument/2006/relationships/hyperlink" Target="https://owasp.org/www-project-top-ten/" TargetMode="External"/><Relationship Id="rId7" Type="http://schemas.openxmlformats.org/officeDocument/2006/relationships/hyperlink" Target="https://docs.projectdiscovery.i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map.org/" TargetMode="External"/><Relationship Id="rId5" Type="http://schemas.openxmlformats.org/officeDocument/2006/relationships/hyperlink" Target="https://python.langchain.com/" TargetMode="External"/><Relationship Id="rId4" Type="http://schemas.openxmlformats.org/officeDocument/2006/relationships/hyperlink" Target="https://ai.google.dev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Unified Security Scanner + RAG Assistant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 : CCS_13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95953685"/>
              </p:ext>
            </p:extLst>
          </p:nvPr>
        </p:nvGraphicFramePr>
        <p:xfrm>
          <a:off x="570271" y="2721840"/>
          <a:ext cx="5401751" cy="265181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6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20231CCS0117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20231CCS0116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20231CCS0173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Roopashree</a:t>
                      </a:r>
                      <a:r>
                        <a:rPr lang="en-IN" sz="1800" u="none" strike="noStrike" cap="none" dirty="0"/>
                        <a:t> 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Mohammed Rayyan Khan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Shreya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Syeda Zaiba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Hashmat Fida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58762" y="460267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CCS-Computer Science &amp; Engineering (Cyber Security)</a:t>
            </a:r>
            <a:endParaRPr lang="en-US"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. Sampath A K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PSAIAC_214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Difficulty Level: High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 Analysts juggle many scanners; build a unified GUI + RAG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assistant across Nmap/OpenVAS/Nessus/Nuclei.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https://github.com/Roopashree1926/Unified-Security-Scanner-RAG-Assistant.git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Existing Problems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Organizations use multiple security tools separately.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Vulnerability reports are difficult to interpret.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Manual security analysis consumes significant time. 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Proposed Solutions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Develop a unified security platform that: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Integrates multiple scanners.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Uses AI to explain vulnerabilities.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Suggests remediation steps.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Generates automated reports.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Allows users to ask security-related questions.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7B03-8D4E-9127-6ED8-C66FC0EF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FED31-D1FA-DB7E-E64D-8FBEC3D68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Proposed System Advantages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Unified interface for multiple security scanners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AI-powered vulnerability explanation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Faster security analysis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Reduced manual effort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Beginner-friendly interface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Automated remediation suggestions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56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22632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A21AFA-0A78-E285-F30B-6BD54E04A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273759"/>
              </p:ext>
            </p:extLst>
          </p:nvPr>
        </p:nvGraphicFramePr>
        <p:xfrm>
          <a:off x="2277269" y="1143002"/>
          <a:ext cx="8007273" cy="48645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80972">
                  <a:extLst>
                    <a:ext uri="{9D8B030D-6E8A-4147-A177-3AD203B41FA5}">
                      <a16:colId xmlns:a16="http://schemas.microsoft.com/office/drawing/2014/main" val="2242394068"/>
                    </a:ext>
                  </a:extLst>
                </a:gridCol>
                <a:gridCol w="2339793">
                  <a:extLst>
                    <a:ext uri="{9D8B030D-6E8A-4147-A177-3AD203B41FA5}">
                      <a16:colId xmlns:a16="http://schemas.microsoft.com/office/drawing/2014/main" val="2779405416"/>
                    </a:ext>
                  </a:extLst>
                </a:gridCol>
                <a:gridCol w="3486508">
                  <a:extLst>
                    <a:ext uri="{9D8B030D-6E8A-4147-A177-3AD203B41FA5}">
                      <a16:colId xmlns:a16="http://schemas.microsoft.com/office/drawing/2014/main" val="3707630020"/>
                    </a:ext>
                  </a:extLst>
                </a:gridCol>
              </a:tblGrid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Component</a:t>
                      </a:r>
                      <a:endParaRPr lang="en-IN" sz="100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Technology / Tool</a:t>
                      </a:r>
                      <a:endParaRPr lang="en-IN" sz="100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Purpose</a:t>
                      </a:r>
                      <a:endParaRPr lang="en-IN" sz="1000"/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1222049542"/>
                  </a:ext>
                </a:extLst>
              </a:tr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Frontend</a:t>
                      </a:r>
                      <a:endParaRPr lang="en-IN" sz="1000" dirty="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React.js,  JavaScript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 an interactive and responsive user interface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1507831712"/>
                  </a:ext>
                </a:extLst>
              </a:tr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Backend</a:t>
                      </a:r>
                      <a:endParaRPr lang="en-IN" sz="100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FastAPI (Python)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 REST APIs and handle application logic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2916612540"/>
                  </a:ext>
                </a:extLst>
              </a:tr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Security Tools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Nmap, OpenVAS, Nessus, Nuclei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Vulnerability Scanning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3737361637"/>
                  </a:ext>
                </a:extLst>
              </a:tr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AI Model </a:t>
                      </a:r>
                      <a:endParaRPr lang="en-IN" sz="1000" dirty="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Google Gemini API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Generate AI-powered explanations and remediation suggestions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1675616419"/>
                  </a:ext>
                </a:extLst>
              </a:tr>
              <a:tr h="94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RAG Framework</a:t>
                      </a:r>
                      <a:endParaRPr lang="en-IN" sz="1000" dirty="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LangChain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Retrieve relevant cybersecurity knowledge and generate accurate responses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657244556"/>
                  </a:ext>
                </a:extLst>
              </a:tr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Vector Database</a:t>
                      </a:r>
                      <a:endParaRPr lang="en-IN" sz="100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FAISS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Store and retrieve embeddings for the RAG assistant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3934006385"/>
                  </a:ext>
                </a:extLst>
              </a:tr>
              <a:tr h="55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Database</a:t>
                      </a:r>
                      <a:endParaRPr lang="en-IN" sz="1000"/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PostgreSQL</a:t>
                      </a:r>
                    </a:p>
                  </a:txBody>
                  <a:tcPr marL="66335" marR="66335" marT="33167" marB="33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Store user information, scan history, and reports</a:t>
                      </a:r>
                    </a:p>
                  </a:txBody>
                  <a:tcPr marL="66335" marR="66335" marT="33167" marB="33167" anchor="ctr"/>
                </a:tc>
                <a:extLst>
                  <a:ext uri="{0D108BD9-81ED-4DB2-BD59-A6C34878D82A}">
                    <a16:rowId xmlns:a16="http://schemas.microsoft.com/office/drawing/2014/main" val="802342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System Workflow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214F1B-7AE9-90E1-C885-F8DEAE8C1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81" y="1061884"/>
            <a:ext cx="5614219" cy="483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88B981-3D7C-5F50-53F4-BE48E013C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276889"/>
              </p:ext>
            </p:extLst>
          </p:nvPr>
        </p:nvGraphicFramePr>
        <p:xfrm>
          <a:off x="812801" y="1120877"/>
          <a:ext cx="10307479" cy="50251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31229">
                  <a:extLst>
                    <a:ext uri="{9D8B030D-6E8A-4147-A177-3AD203B41FA5}">
                      <a16:colId xmlns:a16="http://schemas.microsoft.com/office/drawing/2014/main" val="1306862707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2502647449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1460982142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1062272823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3951243447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3286461512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4280519845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525183294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494670611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421958838"/>
                    </a:ext>
                  </a:extLst>
                </a:gridCol>
                <a:gridCol w="857625">
                  <a:extLst>
                    <a:ext uri="{9D8B030D-6E8A-4147-A177-3AD203B41FA5}">
                      <a16:colId xmlns:a16="http://schemas.microsoft.com/office/drawing/2014/main" val="526712320"/>
                    </a:ext>
                  </a:extLst>
                </a:gridCol>
              </a:tblGrid>
              <a:tr h="315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217127"/>
                  </a:ext>
                </a:extLst>
              </a:tr>
              <a:tr h="53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Literature Survey &amp;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53519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31470"/>
                  </a:ext>
                </a:extLst>
              </a:tr>
              <a:tr h="53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Architecture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984390"/>
                  </a:ext>
                </a:extLst>
              </a:tr>
              <a:tr h="53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 &amp; Backend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312086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RAG &amp; AI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793996"/>
                  </a:ext>
                </a:extLst>
              </a:tr>
              <a:tr h="315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679874"/>
                  </a:ext>
                </a:extLst>
              </a:tr>
              <a:tr h="53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183589"/>
                  </a:ext>
                </a:extLst>
              </a:tr>
              <a:tr h="53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13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Research Paper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OWASP Foundation. (2025).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OWASP Top 10: Web Application Security Risks.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https://owasp.org/www-project-top-ten/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76200" lvl="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Documentation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Google AI. (2025).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Gemini API Documentation.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https://ai.google.dev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0"/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LangChain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Inc. (2025). </a:t>
            </a:r>
            <a:r>
              <a:rPr lang="en-IN" i="1" dirty="0" err="1">
                <a:latin typeface="Cambria" panose="02040503050406030204" pitchFamily="18" charset="0"/>
                <a:ea typeface="Cambria" panose="02040503050406030204" pitchFamily="18" charset="0"/>
              </a:rPr>
              <a:t>LangChain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 Documentation.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https://python.langchain.com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Nmap Project. (2025).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Nmap Network Security Scanner.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https://nmap.org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0"/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ProjectDiscovery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(2025).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Nuclei Documentation.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https://docs.projectdiscovery.io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dirty="0"/>
              <a:t>Greenbone Networks. (2025). OpenVAS Documentation. </a:t>
            </a:r>
            <a:r>
              <a:rPr lang="en-IN" dirty="0">
                <a:hlinkClick r:id="rId8"/>
              </a:rPr>
              <a:t>https://greenbone.github.io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526</Words>
  <Application>Microsoft Office PowerPoint</Application>
  <PresentationFormat>Widescreen</PresentationFormat>
  <Paragraphs>147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PowerPoint Presentation</vt:lpstr>
      <vt:lpstr>Unified Security Scanner + RAG Assistant</vt:lpstr>
      <vt:lpstr>Content</vt:lpstr>
      <vt:lpstr>Problem Statement Number: PSAIAC_214</vt:lpstr>
      <vt:lpstr>Github Link</vt:lpstr>
      <vt:lpstr>Analysis of Problem Statement</vt:lpstr>
      <vt:lpstr>Analysis of Problem Statement</vt:lpstr>
      <vt:lpstr>Analysis of Problem Statement </vt:lpstr>
      <vt:lpstr>Proposed System Workflow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ROOPASHREE M</cp:lastModifiedBy>
  <cp:revision>45</cp:revision>
  <dcterms:modified xsi:type="dcterms:W3CDTF">2026-08-07T07:53:49Z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