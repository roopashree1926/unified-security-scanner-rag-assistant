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2"/>
  </p:notesMasterIdLst>
  <p:sldIdLst>
    <p:sldId id="274" r:id="rId5"/>
    <p:sldId id="256" r:id="rId6"/>
    <p:sldId id="257" r:id="rId7"/>
    <p:sldId id="280" r:id="rId8"/>
    <p:sldId id="273" r:id="rId9"/>
    <p:sldId id="271" r:id="rId10"/>
    <p:sldId id="276" r:id="rId11"/>
    <p:sldId id="278" r:id="rId12"/>
    <p:sldId id="281" r:id="rId13"/>
    <p:sldId id="282" r:id="rId14"/>
    <p:sldId id="283" r:id="rId15"/>
    <p:sldId id="270" r:id="rId16"/>
    <p:sldId id="284" r:id="rId17"/>
    <p:sldId id="285" r:id="rId18"/>
    <p:sldId id="286" r:id="rId19"/>
    <p:sldId id="265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11208493" TargetMode="External"/><Relationship Id="rId3" Type="http://schemas.openxmlformats.org/officeDocument/2006/relationships/hyperlink" Target="https://ieeexplore.ieee.org/document/10496014" TargetMode="External"/><Relationship Id="rId7" Type="http://schemas.openxmlformats.org/officeDocument/2006/relationships/hyperlink" Target="https://ieeexplore.ieee.org/document/1085940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8873438" TargetMode="External"/><Relationship Id="rId11" Type="http://schemas.openxmlformats.org/officeDocument/2006/relationships/hyperlink" Target="https://doi.org/10.1109/ICAIC67076.2026.11395762" TargetMode="External"/><Relationship Id="rId5" Type="http://schemas.openxmlformats.org/officeDocument/2006/relationships/hyperlink" Target="https://ieeexplore.ieee.org/document/9329410?utm_source=chatgpt.com" TargetMode="External"/><Relationship Id="rId10" Type="http://schemas.openxmlformats.org/officeDocument/2006/relationships/hyperlink" Target="https://ieeexplore.ieee.org/document/10339885" TargetMode="External"/><Relationship Id="rId4" Type="http://schemas.openxmlformats.org/officeDocument/2006/relationships/hyperlink" Target="https://ieeexplore.ieee.org/document/9655963?utm_source=chatgpt.com" TargetMode="External"/><Relationship Id="rId9" Type="http://schemas.openxmlformats.org/officeDocument/2006/relationships/hyperlink" Target="https://ieeexplore.ieee.org/document/1029953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Unified Security Scanner + RAG Assistant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 : CCS_13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525047547"/>
              </p:ext>
            </p:extLst>
          </p:nvPr>
        </p:nvGraphicFramePr>
        <p:xfrm>
          <a:off x="570271" y="2721840"/>
          <a:ext cx="5401751" cy="265181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6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20231CCS0116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20231CCS0173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Roopashree</a:t>
                      </a:r>
                      <a:r>
                        <a:rPr lang="en-IN" sz="1800" u="none" strike="noStrike" cap="none" dirty="0"/>
                        <a:t> 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Mohammed Rayyan Khan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Shreya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Syeda Zaiba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 A K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Head of the department (cyber security)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Review-3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58762" y="460267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CCS-Computer Science &amp; Engineering (Cyber Security)</a:t>
            </a:r>
            <a:endParaRPr lang="en-US"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. Sampath A K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619432"/>
            <a:ext cx="10668000" cy="574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Problem Statement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Drawbacks and Proposed System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System Architecture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Modules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Technology Stack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Algorithm / Workflow 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Source Code Structure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Implementation Functionality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Results and Discussion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Conclusion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➢ References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AE43-4FCC-0915-5E2D-5F9517D3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86836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C7413-289C-ABEC-F38C-F3362E07E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Analysts juggle many scanners; build a unified GUI + RAG assistant across Nmap/OpenVAS/Nessus/Nuclei.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Security analysts often work with multiple security scanners independently, making vulnerability assessment difficult to manage and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analyze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Challenges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Multiple scanner interfaces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Different output formats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Manual vulnerability analysis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Difficulty maintaining scan history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Time-consuming report generation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Lack of centralized security information 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36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655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 and Proposed Methods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Separate installation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command syntax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report formats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Manual analysis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No centralized interface</a:t>
            </a:r>
          </a:p>
          <a:p>
            <a:pPr marL="76200" lv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Methods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Develop a web-based Unified Security Scanner.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Provide a single interface for multiple security scanners.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Accept user input (scanner selection and target).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Execute the selected scanner through the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backend.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Parse scanner outputs into a common format. </a:t>
            </a:r>
          </a:p>
          <a:p>
            <a:pPr lvl="0"/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B8066-CBF0-29E8-AF4A-2AB98E0ED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87" y="1111044"/>
            <a:ext cx="10507025" cy="47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D42B-CBA5-393C-377B-9B0EA9FF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1824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80D65-BDF5-C871-3F12-374C64911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Module 1 - Frontend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User Interface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Scanner Selection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Target Input </a:t>
            </a:r>
          </a:p>
          <a:p>
            <a:pPr marL="76200" indent="0">
              <a:buNone/>
            </a:pP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Module 2 -Backend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REST API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Request Validation </a:t>
            </a:r>
          </a:p>
          <a:p>
            <a:pPr marL="76200" indent="0">
              <a:buNone/>
            </a:pP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56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3971-A7F1-E618-DCA4-C565C764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2822B-4A10-CCC0-450D-3DB06415F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Module 3 - Scanner Integration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Nmap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Nuclei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Nessus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OpenVAS</a:t>
            </a:r>
          </a:p>
          <a:p>
            <a:pPr marL="76200" indent="0">
              <a:buNone/>
            </a:pPr>
            <a:br>
              <a:rPr lang="en-IN" sz="29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Module 4 - Output Processing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Parse scanner output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Standardize findings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Display vulnerabilities and Severity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</a:p>
          <a:p>
            <a:pPr marL="76200" indent="0">
              <a:buNone/>
            </a:pPr>
            <a:br>
              <a:rPr lang="en-IN" sz="29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20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4FF5-DAC6-5DAE-23B6-8E8BDFFF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D2396-099F-697B-1CDE-54193D35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80644-1096-8FFE-09C8-DCF8429D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02713"/>
              </p:ext>
            </p:extLst>
          </p:nvPr>
        </p:nvGraphicFramePr>
        <p:xfrm>
          <a:off x="812800" y="1143001"/>
          <a:ext cx="10668000" cy="45719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280601467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160391440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4195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React.js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00635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+ 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15737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16604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Scanner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Nmap , Nessus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59732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Vulnerability Scanner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Nuclei, OpenVAS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29003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Gemini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64937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LangChain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82506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1861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02117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 / Windows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52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4896-BD99-E6BB-51A2-ECAAD45D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Algorithm 1: Unified Scan 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D344F0-312D-6D9C-21F9-2BBE2262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9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528C-C981-A77D-BDE8-F718D0C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Algorithm 2: RAG + AI Assistant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07E5E-F5F8-BFCB-558A-314138B5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6" y="1381037"/>
            <a:ext cx="11238271" cy="40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0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Source Code Structure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96126-65BF-FACA-4F4D-F5996FA95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4" y="1042219"/>
            <a:ext cx="10825316" cy="46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FBCC-2F9A-D5AD-5D75-AB6B4C52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86836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Implementation Functionality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C6564-8788-9CE2-BE48-9818C306E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12723"/>
            <a:ext cx="10668000" cy="5083278"/>
          </a:xfrm>
        </p:spPr>
        <p:txBody>
          <a:bodyPr>
            <a:normAutofit fontScale="70000" lnSpcReduction="20000"/>
          </a:bodyPr>
          <a:lstStyle/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Security dashboard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Scanner selection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Scan interface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Findings dashboard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AI Assistant </a:t>
            </a:r>
          </a:p>
          <a:p>
            <a:pPr marL="76200" lvl="0" indent="0">
              <a:buNone/>
            </a:pP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</a:p>
          <a:p>
            <a:pPr lvl="0"/>
            <a:r>
              <a:rPr lang="en-IN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 REST API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Scan management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Finding normalization </a:t>
            </a:r>
          </a:p>
          <a:p>
            <a:pPr lvl="0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RAG knowledge retrieval </a:t>
            </a:r>
          </a:p>
          <a:p>
            <a:pPr marL="76200" lvl="0" indent="0">
              <a:buNone/>
            </a:pP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Security Tools</a:t>
            </a:r>
          </a:p>
          <a:p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 Nmap — Working</a:t>
            </a:r>
            <a:b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Nuclei — Working</a:t>
            </a:r>
            <a:b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OpenVAS — Integration Pending</a:t>
            </a:r>
            <a:b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Nessus — Integration Pending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43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A1C0-350E-5D0A-1B6A-10F86F3B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5464E-E4B4-15F9-4BB5-55D5D57EF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The implemented system successfully provides: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Centralized security scanning interface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Real Nmap scan execution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Nuclei scanner integration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Standardized vulnerability findings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Severity-based finding display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RAG-based security knowledge retrieval </a:t>
            </a:r>
          </a:p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Gemini-powered AI assistance </a:t>
            </a:r>
          </a:p>
          <a:p>
            <a:pPr marL="76200" lvl="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Current Status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Frontend: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Implemented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Backend: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Implemented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Nmap: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Working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Nuclei: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Integrated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RAG + Gemini: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Implemented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031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76D9-F36C-FCD3-05E6-9377A9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2CBE-5BC7-D689-E662-95F80FDD4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Security Scanner + RAG Assistant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provides a centralized platform for security assessment and vulnerability analysis.</a:t>
            </a:r>
          </a:p>
          <a:p>
            <a:pPr marL="7620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Key Contributions</a:t>
            </a: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Unified Scanning</a:t>
            </a: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Nmap + Nuclei</a:t>
            </a: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Management</a:t>
            </a: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Scans + Findings </a:t>
            </a: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Intelligent Assistance</a:t>
            </a: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RAG + Gemini</a:t>
            </a: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Automated Reporting</a:t>
            </a: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JSON format</a:t>
            </a:r>
          </a:p>
          <a:p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Architecture</a:t>
            </a:r>
            <a:b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Ready for additional security scanners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2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1200" dirty="0"/>
              <a:t>1. Automation of Nmap Scanning of Information Systems</a:t>
            </a:r>
            <a:br>
              <a:rPr lang="en-IN" sz="1200" dirty="0"/>
            </a:br>
            <a:r>
              <a:rPr lang="en-IN" sz="1200" dirty="0">
                <a:hlinkClick r:id="rId3"/>
              </a:rPr>
              <a:t>https://ieeexplore.ieee.org/document/10496014</a:t>
            </a:r>
            <a:endParaRPr lang="en-IN" sz="1200" dirty="0"/>
          </a:p>
          <a:p>
            <a:r>
              <a:rPr lang="en-IN" sz="1200" dirty="0"/>
              <a:t>2. Web-based Reconnaissance and Vulnerability Scanner: A Review and Proposed Solution</a:t>
            </a:r>
            <a:br>
              <a:rPr lang="en-IN" sz="1200" dirty="0"/>
            </a:br>
            <a:r>
              <a:rPr lang="en-IN" sz="1200" dirty="0">
                <a:hlinkClick r:id="rId4"/>
              </a:rPr>
              <a:t>https://ieeexplore.ieee.org/document/9655963</a:t>
            </a:r>
            <a:endParaRPr lang="en-IN" sz="1200" dirty="0"/>
          </a:p>
          <a:p>
            <a:r>
              <a:rPr lang="en-IN" sz="1200" dirty="0"/>
              <a:t>3. A Comprehensive Detection Approach of Nmap: Principles, Rules and Experiments</a:t>
            </a:r>
            <a:br>
              <a:rPr lang="en-IN" sz="1200" dirty="0"/>
            </a:br>
            <a:r>
              <a:rPr lang="en-IN" sz="1200" dirty="0">
                <a:hlinkClick r:id="rId5"/>
              </a:rPr>
              <a:t>https://ieeexplore.ieee.org/document/9329410</a:t>
            </a:r>
            <a:endParaRPr lang="en-IN" sz="1200" dirty="0"/>
          </a:p>
          <a:p>
            <a:r>
              <a:rPr lang="en-IN" sz="1200" dirty="0"/>
              <a:t>4. Evaluation of Security Vulnerability Scanners for Small and Medium Enterprises Business Networks Resilience Towards Risk Assessment</a:t>
            </a:r>
            <a:br>
              <a:rPr lang="en-IN" sz="1200" dirty="0"/>
            </a:br>
            <a:r>
              <a:rPr lang="en-IN" sz="1200" dirty="0">
                <a:hlinkClick r:id="rId6"/>
              </a:rPr>
              <a:t>https://ieeexplore.ieee.org/document/8873438</a:t>
            </a:r>
            <a:endParaRPr lang="en-IN" sz="1200" dirty="0"/>
          </a:p>
          <a:p>
            <a:r>
              <a:rPr lang="en-IN" sz="1200" dirty="0"/>
              <a:t>5. Research on the LLM-Driven Vulnerability Detection System Using </a:t>
            </a:r>
            <a:r>
              <a:rPr lang="en-IN" sz="1200" dirty="0" err="1"/>
              <a:t>LProtector</a:t>
            </a:r>
            <a:br>
              <a:rPr lang="en-IN" sz="1200" dirty="0"/>
            </a:br>
            <a:r>
              <a:rPr lang="en-IN" sz="1200" dirty="0">
                <a:hlinkClick r:id="rId7"/>
              </a:rPr>
              <a:t>https://ieeexplore.ieee.org/document/10859408</a:t>
            </a:r>
            <a:endParaRPr lang="en-IN" sz="1200" dirty="0"/>
          </a:p>
          <a:p>
            <a:r>
              <a:rPr lang="en-IN" sz="1200" dirty="0"/>
              <a:t>6. Enriching IP Scanning Results with Structured Threat Intelligence Toward Actionable Reconnaissance in Cybersecurity Operations</a:t>
            </a:r>
            <a:br>
              <a:rPr lang="en-IN" sz="1200" dirty="0"/>
            </a:br>
            <a:r>
              <a:rPr lang="en-IN" sz="1200" dirty="0">
                <a:hlinkClick r:id="rId8"/>
              </a:rPr>
              <a:t>https://ieeexplore.ieee.org/document/11208493</a:t>
            </a:r>
            <a:endParaRPr lang="en-IN" sz="1200" dirty="0"/>
          </a:p>
          <a:p>
            <a:r>
              <a:rPr lang="en-IN" sz="1200" dirty="0"/>
              <a:t>7. Vulnerability Management Chaining: An Integrated Framework for Efficient Cybersecurity Risk Prioritization</a:t>
            </a:r>
            <a:br>
              <a:rPr lang="en-IN" sz="1200" dirty="0"/>
            </a:br>
            <a:r>
              <a:rPr lang="en-IN" sz="1200" dirty="0"/>
              <a:t>https://ieeexplore.ieee.org/document/3665768</a:t>
            </a:r>
          </a:p>
          <a:p>
            <a:r>
              <a:rPr lang="en-IN" sz="1200" dirty="0"/>
              <a:t>8. IoT-Scan: Network Reconnaissance for Internet of Things</a:t>
            </a:r>
            <a:br>
              <a:rPr lang="en-IN" sz="1200" dirty="0"/>
            </a:br>
            <a:r>
              <a:rPr lang="en-IN" sz="1200" dirty="0">
                <a:hlinkClick r:id="rId9"/>
              </a:rPr>
              <a:t>https://ieeexplore.ieee.org/document/10299538</a:t>
            </a:r>
            <a:endParaRPr lang="en-IN" sz="1200" dirty="0"/>
          </a:p>
          <a:p>
            <a:r>
              <a:rPr lang="en-IN" sz="1200" dirty="0"/>
              <a:t>9. A Comparative Analysis of Port Scanning Tool Efficacy</a:t>
            </a:r>
            <a:br>
              <a:rPr lang="en-IN" sz="1200" dirty="0"/>
            </a:br>
            <a:r>
              <a:rPr lang="en-IN" sz="1200" dirty="0">
                <a:hlinkClick r:id="rId10"/>
              </a:rPr>
              <a:t>https://ieeexplore.ieee.org/document/10339885</a:t>
            </a:r>
            <a:endParaRPr lang="en-IN" sz="1200" dirty="0"/>
          </a:p>
          <a:p>
            <a:r>
              <a:rPr lang="en-IN" sz="1200" dirty="0"/>
              <a:t>10. </a:t>
            </a:r>
            <a:r>
              <a:rPr lang="en-IN" sz="1200" dirty="0" err="1"/>
              <a:t>RAGSec</a:t>
            </a:r>
            <a:r>
              <a:rPr lang="en-IN" sz="1200" dirty="0"/>
              <a:t>: Retrieval-Augmented Generation for Cybersecurity Threat Intelligence in Enterprise Networks</a:t>
            </a:r>
            <a:br>
              <a:rPr lang="en-IN" sz="1200" dirty="0"/>
            </a:br>
            <a:r>
              <a:rPr lang="en-IN" sz="1200" dirty="0"/>
              <a:t> </a:t>
            </a:r>
            <a:r>
              <a:rPr lang="en-IN" sz="1200" dirty="0">
                <a:hlinkClick r:id="rId11"/>
              </a:rPr>
              <a:t>https://doi.org/10.1109/ICAIC67076.2026.11395762</a:t>
            </a:r>
            <a:endParaRPr lang="en-IN" sz="1200" dirty="0"/>
          </a:p>
          <a:p>
            <a:pPr marL="76200" lvl="0" indent="0">
              <a:buNone/>
            </a:pPr>
            <a:br>
              <a:rPr lang="en-IN" sz="1200" dirty="0"/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2801</TotalTime>
  <Words>788</Words>
  <Application>Microsoft Office PowerPoint</Application>
  <PresentationFormat>Widescreen</PresentationFormat>
  <Paragraphs>178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Verdana</vt:lpstr>
      <vt:lpstr>Wingdings</vt:lpstr>
      <vt:lpstr>Bioinformatics</vt:lpstr>
      <vt:lpstr>PowerPoint Presentation</vt:lpstr>
      <vt:lpstr>Unified Security Scanner + RAG Assistant</vt:lpstr>
      <vt:lpstr>Content</vt:lpstr>
      <vt:lpstr>Problem Statement </vt:lpstr>
      <vt:lpstr>Drawbacks and Proposed Methods </vt:lpstr>
      <vt:lpstr>System Architecture</vt:lpstr>
      <vt:lpstr>Modules </vt:lpstr>
      <vt:lpstr>Modules</vt:lpstr>
      <vt:lpstr>Technology Stack</vt:lpstr>
      <vt:lpstr>Algorithm 1: Unified Scan Workflow</vt:lpstr>
      <vt:lpstr>Algorithm 2: RAG + AI Assistant</vt:lpstr>
      <vt:lpstr>Source Code Structure</vt:lpstr>
      <vt:lpstr>Implementation Functionality </vt:lpstr>
      <vt:lpstr>Results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ROOPASHREE M</cp:lastModifiedBy>
  <cp:revision>50</cp:revision>
  <dcterms:modified xsi:type="dcterms:W3CDTF">2026-09-25T11:40:26Z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