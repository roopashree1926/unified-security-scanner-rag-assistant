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2"/>
  </p:notesMasterIdLst>
  <p:sldIdLst>
    <p:sldId id="274" r:id="rId5"/>
    <p:sldId id="256" r:id="rId6"/>
    <p:sldId id="257" r:id="rId7"/>
    <p:sldId id="280" r:id="rId8"/>
    <p:sldId id="273" r:id="rId9"/>
    <p:sldId id="271" r:id="rId10"/>
    <p:sldId id="276" r:id="rId11"/>
    <p:sldId id="278" r:id="rId12"/>
    <p:sldId id="281" r:id="rId13"/>
    <p:sldId id="282" r:id="rId14"/>
    <p:sldId id="283" r:id="rId15"/>
    <p:sldId id="270" r:id="rId16"/>
    <p:sldId id="284" r:id="rId17"/>
    <p:sldId id="285" r:id="rId18"/>
    <p:sldId id="286" r:id="rId19"/>
    <p:sldId id="265" r:id="rId20"/>
    <p:sldId id="26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ieeexplore.ieee.org/document/10496014" TargetMode="External"/><Relationship Id="rId4" Type="http://schemas.openxmlformats.org/officeDocument/2006/relationships/hyperlink" Target="https://ieeexplore.ieee.org/document/9655963?utm_source=chatgpt.com" TargetMode="External"/><Relationship Id="rId5" Type="http://schemas.openxmlformats.org/officeDocument/2006/relationships/hyperlink" Target="https://ieeexplore.ieee.org/document/9329410?utm_source=chatgpt.com" TargetMode="External"/><Relationship Id="rId6" Type="http://schemas.openxmlformats.org/officeDocument/2006/relationships/hyperlink" Target="https://ieeexplore.ieee.org/document/8873438" TargetMode="External"/><Relationship Id="rId7" Type="http://schemas.openxmlformats.org/officeDocument/2006/relationships/hyperlink" Target="https://ieeexplore.ieee.org/document/10859408" TargetMode="External"/><Relationship Id="rId8" Type="http://schemas.openxmlformats.org/officeDocument/2006/relationships/hyperlink" Target="https://ieeexplore.ieee.org/document/11208493" TargetMode="External"/><Relationship Id="rId9" Type="http://schemas.openxmlformats.org/officeDocument/2006/relationships/hyperlink" Target="https://ieeexplore.ieee.org/document/10299538" TargetMode="External"/><Relationship Id="rId10" Type="http://schemas.openxmlformats.org/officeDocument/2006/relationships/hyperlink" Target="https://ieeexplore.ieee.org/document/10339885" TargetMode="External"/><Relationship Id="rId11" Type="http://schemas.openxmlformats.org/officeDocument/2006/relationships/hyperlink" Target="https://doi.org/10.1109/ICAIC67076.2026.11395762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11BAA27-C0F4-A466-A09B-15D5201C28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1" name="Rectangle 1"/>
          <p:cNvSpPr/>
          <p:nvPr/>
        </p:nvSpPr>
        <p:spPr>
          <a:xfrm>
            <a:off x="0" y="380240"/>
            <a:ext cx="12192000" cy="6966857"/>
          </a:xfrm>
          <a:prstGeom prst="rect">
            <a:avLst/>
          </a:prstGeom>
          <a:solidFill>
            <a:srgbClr val="002F5E">
              <a:alpha val="7490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+mj-lt"/>
            </a:endParaRPr>
          </a:p>
        </p:txBody>
      </p:sp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2" name="TextBox 2"/>
          <p:cNvSpPr txBox="1"/>
          <p:nvPr/>
        </p:nvSpPr>
        <p:spPr>
          <a:xfrm>
            <a:off x="567271" y="2277410"/>
            <a:ext cx="11390486" cy="1862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7300" b="1">
                <a:solidFill>
                  <a:srgbClr val="188CFF">
                    <a:alpha val="15000"/>
                  </a:srgbClr>
                </a:solidFill>
                <a:effectLst>
                  <a:outerShdw blurRad="127000" rotWithShape="0">
                    <a:srgbClr val="000000">
                      <a:alpha val="10000"/>
                    </a:srgbClr>
                  </a:outerShdw>
                </a:effectLst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sz="11500" dirty="0">
                <a:latin typeface="+mj-lt"/>
              </a:rPr>
              <a:t>Presidency</a:t>
            </a:r>
            <a:endParaRPr sz="13800" dirty="0">
              <a:latin typeface="+mj-lt"/>
            </a:endParaRPr>
          </a:p>
        </p:txBody>
      </p:sp>
      <p:sp>
        <p:nvSpPr>
          <p:cNvPr id="203" name="TextBox 3"/>
          <p:cNvSpPr txBox="1"/>
          <p:nvPr/>
        </p:nvSpPr>
        <p:spPr>
          <a:xfrm>
            <a:off x="1573968" y="3788227"/>
            <a:ext cx="8724276" cy="496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lnSpc>
                <a:spcPct val="150000"/>
              </a:lnSpc>
              <a:defRPr sz="1600" spc="300">
                <a:solidFill>
                  <a:srgbClr val="FFFFFF"/>
                </a:solidFill>
              </a:defRPr>
            </a:lvl1pPr>
          </a:lstStyle>
          <a:p>
            <a:r>
              <a:rPr lang="en-IN" sz="2000" dirty="0">
                <a:latin typeface="+mj-lt"/>
              </a:rPr>
              <a:t>School of Artificial Intelligence and Advanced Computing</a:t>
            </a:r>
            <a:endParaRPr sz="2000" dirty="0">
              <a:latin typeface="+mj-lt"/>
            </a:endParaRPr>
          </a:p>
        </p:txBody>
      </p:sp>
      <p:sp>
        <p:nvSpPr>
          <p:cNvPr id="205" name="Rectangle 11"/>
          <p:cNvSpPr/>
          <p:nvPr/>
        </p:nvSpPr>
        <p:spPr>
          <a:xfrm>
            <a:off x="609600" y="380240"/>
            <a:ext cx="45719" cy="305561"/>
          </a:xfrm>
          <a:prstGeom prst="rect">
            <a:avLst/>
          </a:prstGeom>
          <a:solidFill>
            <a:srgbClr val="F39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sp>
        <p:nvSpPr>
          <p:cNvPr id="13" name="TextBox 5"/>
          <p:cNvSpPr txBox="1"/>
          <p:nvPr/>
        </p:nvSpPr>
        <p:spPr>
          <a:xfrm>
            <a:off x="2114624" y="2392826"/>
            <a:ext cx="8295781" cy="163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0000" b="1">
                <a:solidFill>
                  <a:srgbClr val="FFFFFF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dirty="0">
                <a:latin typeface="+mj-lt"/>
              </a:rPr>
              <a:t>Presidency</a:t>
            </a:r>
            <a:endParaRPr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Unified Security Scanner + RAG Assistant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100770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 : CCS_13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525047547"/>
              </p:ext>
            </p:extLst>
          </p:nvPr>
        </p:nvGraphicFramePr>
        <p:xfrm>
          <a:off x="570271" y="2721840"/>
          <a:ext cx="5401751" cy="265181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68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20231CCS0117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20231CCS0125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20231CCS0116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20231CCS0173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err="1"/>
                        <a:t>Roopashree</a:t>
                      </a:r>
                      <a:r>
                        <a:rPr lang="en-IN" sz="1800" u="none" strike="noStrike" cap="none" dirty="0"/>
                        <a:t> M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Mohammed Rayyan Khan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Shreya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Syeda Zaiba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 A K 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Head of the department (cyber security)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Review-4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658762" y="460267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CCS-Computer Science &amp; Engineering (Cyber Security)</a:t>
            </a:r>
            <a:endParaRPr lang="en-US"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. Sampath A K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</a:t>
            </a:r>
            <a:endParaRPr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12800" y="987552"/>
            <a:ext cx="10668000" cy="5257800"/>
          </a:xfrm>
          <a:prstGeom prst="rect">
            <a:avLst/>
          </a:prstGeom>
          <a:noFill/>
        </p:spPr>
        <p:txBody>
          <a:bodyPr wrap="square" lIns="45720" rIns="45720" tIns="54864" bIns="36576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E2D3C"/>
                </a:solidFill>
                <a:latin typeface="Cambria"/>
              </a:rPr>
              <a:t>•  Problem Statement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E2D3C"/>
                </a:solidFill>
                <a:latin typeface="Cambria"/>
              </a:rPr>
              <a:t>•  Drawbacks and Proposed System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E2D3C"/>
                </a:solidFill>
                <a:latin typeface="Cambria"/>
              </a:rPr>
              <a:t>•  System Architecture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E2D3C"/>
                </a:solidFill>
                <a:latin typeface="Cambria"/>
              </a:rPr>
              <a:t>•  Modules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E2D3C"/>
                </a:solidFill>
                <a:latin typeface="Cambria"/>
              </a:rPr>
              <a:t>•  Technology Stack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E2D3C"/>
                </a:solidFill>
                <a:latin typeface="Cambria"/>
              </a:rPr>
              <a:t>•  Algorithm / Workflow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E2D3C"/>
                </a:solidFill>
                <a:latin typeface="Cambria"/>
              </a:rPr>
              <a:t>•  Source Code Structure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E2D3C"/>
                </a:solidFill>
                <a:latin typeface="Cambria"/>
              </a:rPr>
              <a:t>•  Implementation Functionality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E2D3C"/>
                </a:solidFill>
                <a:latin typeface="Cambria"/>
              </a:rPr>
              <a:t>•  Testing, Results and Discussion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E2D3C"/>
                </a:solidFill>
                <a:latin typeface="Cambria"/>
              </a:rPr>
              <a:t>•  Conclusion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E2D3C"/>
                </a:solidFill>
                <a:latin typeface="Cambria"/>
              </a:rPr>
              <a:t>• 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7AE43-4FCC-0915-5E2D-5F9517D3A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74637"/>
            <a:ext cx="10668000" cy="868363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</p:spPr>
        <p:txBody>
          <a:bodyPr wrap="square" lIns="45720" rIns="45720" tIns="54864" bIns="36576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1E2D3C"/>
                </a:solidFill>
                <a:latin typeface="Cambria"/>
              </a:rPr>
              <a:t>•  Security analysts often use separate tools for network discovery, template-based vulnerability checks, web application testing, and web-server checks. Managing separate interfaces and outputs makes it harder to review findings consistently.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300" b="1">
                <a:solidFill>
                  <a:srgbClr val="16334F"/>
                </a:solidFill>
                <a:latin typeface="Cambria"/>
              </a:rPr>
              <a:t>Key Challenges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1E2D3C"/>
                </a:solidFill>
                <a:latin typeface="Cambria"/>
              </a:rPr>
              <a:t>•  Multiple scanner interfaces and command formats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1E2D3C"/>
                </a:solidFill>
                <a:latin typeface="Cambria"/>
              </a:rPr>
              <a:t>•  Inconsistent finding formats and severity labels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1E2D3C"/>
                </a:solidFill>
                <a:latin typeface="Cambria"/>
              </a:rPr>
              <a:t>•  Manual review of scan results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1E2D3C"/>
                </a:solidFill>
                <a:latin typeface="Cambria"/>
              </a:rPr>
              <a:t>•  Maintaining scan history and generating reports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1E2D3C"/>
                </a:solidFill>
                <a:latin typeface="Cambria"/>
              </a:rPr>
              <a:t>•  Explaining security findings to users</a:t>
            </a:r>
          </a:p>
        </p:txBody>
      </p:sp>
    </p:spTree>
    <p:extLst>
      <p:ext uri="{BB962C8B-B14F-4D97-AF65-F5344CB8AC3E}">
        <p14:creationId xmlns:p14="http://schemas.microsoft.com/office/powerpoint/2010/main" val="4091367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3816" y="274320"/>
            <a:ext cx="10671048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Drawbacks &amp; Proposed System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</p:spPr>
        <p:txBody>
          <a:bodyPr wrap="square" lIns="45720" rIns="45720" tIns="54864" bIns="36576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2200" b="1">
                <a:solidFill>
                  <a:srgbClr val="16334F"/>
                </a:solidFill>
                <a:latin typeface="Cambria"/>
              </a:rPr>
              <a:t>Drawbacks of a fragmented workflow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Separate scanner operation and configuration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Different output formats and command syntax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Manual comparison and interpretation of findings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Scans and reports are harder to track centrally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200" b="1">
                <a:solidFill>
                  <a:srgbClr val="16334F"/>
                </a:solidFill>
                <a:latin typeface="Cambria"/>
              </a:rPr>
              <a:t>Proposed System — Unified Security Scanner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Provide one web interface for Nmap, Nuclei, OWASP ZAP, and Nikto.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Use a FastAPI backend to dispatch scans and normalize findings.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Store scan history in SQLite and generate PDF reports.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Use a RAG-based AI assistant with Gemini for security explanations.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5" name="Picture 114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87" y="1111044"/>
            <a:ext cx="10507025" cy="472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ED42B-CBA5-393C-377B-9B0EA9FFE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18249"/>
            <a:ext cx="10668000" cy="4875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</p:spPr>
        <p:txBody>
          <a:bodyPr wrap="square" lIns="45720" rIns="45720" tIns="54864" bIns="36576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2100" b="1">
                <a:solidFill>
                  <a:srgbClr val="16334F"/>
                </a:solidFill>
                <a:latin typeface="Cambria"/>
              </a:rPr>
              <a:t>Module 1 — Frontend (React + Vite)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Scanner selection and authorized target input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Findings dashboard with severity and details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Scan history, PDF reports, and AI Assistant interface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100" b="1">
                <a:solidFill>
                  <a:srgbClr val="16334F"/>
                </a:solidFill>
                <a:latin typeface="Cambria"/>
              </a:rPr>
              <a:t>Module 2 — Backend (Python + FastAPI)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REST API request handling and validation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Scanner orchestration and common finding structure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SQLite persistence and report endpoints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100" b="1">
                <a:solidFill>
                  <a:srgbClr val="16334F"/>
                </a:solidFill>
                <a:latin typeface="Cambria"/>
              </a:rPr>
              <a:t>Module 3 — RAG AI Assistant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Retrieve relevant local security knowledge and send context plus question to Gemini</a:t>
            </a:r>
          </a:p>
        </p:txBody>
      </p:sp>
    </p:spTree>
    <p:extLst>
      <p:ext uri="{BB962C8B-B14F-4D97-AF65-F5344CB8AC3E}">
        <p14:creationId xmlns:p14="http://schemas.microsoft.com/office/powerpoint/2010/main" val="298056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53971-A7F1-E618-DCA4-C565C7646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</p:spPr>
        <p:txBody>
          <a:bodyPr wrap="square" lIns="45720" rIns="45720" tIns="54864" bIns="36576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2200" b="1">
                <a:solidFill>
                  <a:srgbClr val="16334F"/>
                </a:solidFill>
                <a:latin typeface="Cambria"/>
              </a:rPr>
              <a:t>Module 4 — Scanner Integration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Nmap — network discovery and port scanning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Nuclei — template-based vulnerability checks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OWASP ZAP — web application passive scanning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Nikto — web-server security checks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200" b="1">
                <a:solidFill>
                  <a:srgbClr val="16334F"/>
                </a:solidFill>
                <a:latin typeface="Cambria"/>
              </a:rPr>
              <a:t>Module 5 — Finding Management and Reporting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Parse scanner output into a common finding format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Display title, target, severity, description, and available evidence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Store scan history and make findings available for PDF reporting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E2D3C"/>
                </a:solidFill>
                <a:latin typeface="Cambria"/>
              </a:rPr>
              <a:t>•  Show clear errors when a scanner or target is unavailable</a:t>
            </a:r>
          </a:p>
        </p:txBody>
      </p:sp>
    </p:spTree>
    <p:extLst>
      <p:ext uri="{BB962C8B-B14F-4D97-AF65-F5344CB8AC3E}">
        <p14:creationId xmlns:p14="http://schemas.microsoft.com/office/powerpoint/2010/main" val="1436201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64FF5-DAC6-5DAE-23B6-8E8BDFFF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Technology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D2396-099F-697B-1CDE-54193D357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480644-1096-8FFE-09C8-DCF8429D8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802713"/>
              </p:ext>
            </p:extLst>
          </p:nvPr>
        </p:nvGraphicFramePr>
        <p:xfrm>
          <a:off x="812800" y="1143001"/>
          <a:ext cx="10668000" cy="457199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3280601467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160391440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latin typeface="Arial"/>
                        </a:rPr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latin typeface="Arial"/>
                        </a:rPr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84195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React.js + Vite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3006359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Python + FastAPI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15737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SQLite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16604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Security Scanners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Nmap, Nuclei, OWASP ZAP, Nikto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59732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AI 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Google Gemini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29003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RAG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Local security knowledge base (rag.py)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64937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Scan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SQLite-backed scan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82506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PDF report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71861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API 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REST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02117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latin typeface="Arial"/>
                        </a:rPr>
                        <a:t>VS Code / Windows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520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93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4896-BD99-E6BB-51A2-ECAAD45D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Algorithm 1: Unified Scan Workflow</a:t>
            </a:r>
          </a:p>
        </p:txBody>
      </p:sp>
      <p:pic>
        <p:nvPicPr>
          <p:cNvPr id="3" name="Picture 2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" y="1397000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49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528C-C981-A77D-BDE8-F718D0C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Algorithm 2: RAG + AI Assistant</a:t>
            </a:r>
          </a:p>
        </p:txBody>
      </p:sp>
      <p:pic>
        <p:nvPicPr>
          <p:cNvPr id="3" name="Picture 2" descr="r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86" y="1381037"/>
            <a:ext cx="11238271" cy="409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05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Source Code Structure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5" name="Picture 114" descr="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84" y="1042219"/>
            <a:ext cx="10825316" cy="468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3FBCC-2F9A-D5AD-5D75-AB6B4C52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74637"/>
            <a:ext cx="10668000" cy="868363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Implementation Functionality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812800" y="1012723"/>
            <a:ext cx="10668000" cy="5083278"/>
          </a:xfrm>
          <a:prstGeom prst="rect">
            <a:avLst/>
          </a:prstGeom>
          <a:noFill/>
        </p:spPr>
        <p:txBody>
          <a:bodyPr wrap="square" lIns="45720" rIns="45720" tIns="54864" bIns="36576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6334F"/>
                </a:solidFill>
                <a:latin typeface="Cambria"/>
              </a:rPr>
              <a:t>Frontend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800">
                <a:solidFill>
                  <a:srgbClr val="1E2D3C"/>
                </a:solidFill>
                <a:latin typeface="Cambria"/>
              </a:rPr>
              <a:t>•  React/Vite interface: scanner selection, target input, findings dashboard, scan history, PDF reports, and AI Assistant.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6334F"/>
                </a:solidFill>
                <a:latin typeface="Cambria"/>
              </a:rPr>
              <a:t>Backend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800">
                <a:solidFill>
                  <a:srgbClr val="1E2D3C"/>
                </a:solidFill>
                <a:latin typeface="Cambria"/>
              </a:rPr>
              <a:t>•  FastAPI REST endpoints and scan orchestration; common finding details and SQLite-backed scan history.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6334F"/>
                </a:solidFill>
                <a:latin typeface="Cambria"/>
              </a:rPr>
              <a:t>Scanner Integrations — all four tested in the local project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800">
                <a:solidFill>
                  <a:srgbClr val="1E2D3C"/>
                </a:solidFill>
                <a:latin typeface="Cambria"/>
              </a:rPr>
              <a:t>•  Nmap — network discovery and port scanning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800">
                <a:solidFill>
                  <a:srgbClr val="1E2D3C"/>
                </a:solidFill>
                <a:latin typeface="Cambria"/>
              </a:rPr>
              <a:t>•  Nuclei — template-based vulnerability detection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800">
                <a:solidFill>
                  <a:srgbClr val="1E2D3C"/>
                </a:solidFill>
                <a:latin typeface="Cambria"/>
              </a:rPr>
              <a:t>•  OWASP ZAP — passive web application security analysis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800">
                <a:solidFill>
                  <a:srgbClr val="1E2D3C"/>
                </a:solidFill>
                <a:latin typeface="Cambria"/>
              </a:rPr>
              <a:t>•  Nikto — web-server checks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6334F"/>
                </a:solidFill>
                <a:latin typeface="Cambria"/>
              </a:rPr>
              <a:t>AI Assistant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800">
                <a:solidFill>
                  <a:srgbClr val="1E2D3C"/>
                </a:solidFill>
                <a:latin typeface="Cambria"/>
              </a:rPr>
              <a:t>•  Local RAG knowledge retrieval with Gemini-generated explanations.</a:t>
            </a:r>
          </a:p>
        </p:txBody>
      </p:sp>
    </p:spTree>
    <p:extLst>
      <p:ext uri="{BB962C8B-B14F-4D97-AF65-F5344CB8AC3E}">
        <p14:creationId xmlns:p14="http://schemas.microsoft.com/office/powerpoint/2010/main" val="3161431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A1C0-350E-5D0A-1B6A-10F86F3B7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</p:spPr>
        <p:txBody>
          <a:bodyPr wrap="square" lIns="45720" rIns="45720" tIns="54864" bIns="36576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2100" b="1">
                <a:solidFill>
                  <a:srgbClr val="16334F"/>
                </a:solidFill>
                <a:latin typeface="Cambria"/>
              </a:rPr>
              <a:t>Implementation and validation results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All four scanner integrations were exercised in the local application.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Findings are displayed in a common interface with severity and descriptions.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OWASP ZAP successfully reported 7 alerts on the local FastAPI /docs target during testing.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Scan history and PDF report generation were tested.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RAG AI Assistant returned answers with retrieved knowledge-source labels.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100" b="1">
                <a:solidFill>
                  <a:srgbClr val="16334F"/>
                </a:solidFill>
                <a:latin typeface="Cambria"/>
              </a:rPr>
              <a:t>Build and source checks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Frontend production build completed successfully (Vite; 24 modules transformed).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Python syntax compilation succeeded for 17 backend Python files.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E2D3C"/>
                </a:solidFill>
                <a:latin typeface="Cambria"/>
              </a:rPr>
              <a:t>•  Limitations: scan results may include false positives or miss issues; findings require validation.</a:t>
            </a:r>
          </a:p>
        </p:txBody>
      </p:sp>
    </p:spTree>
    <p:extLst>
      <p:ext uri="{BB962C8B-B14F-4D97-AF65-F5344CB8AC3E}">
        <p14:creationId xmlns:p14="http://schemas.microsoft.com/office/powerpoint/2010/main" val="2087031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776D9-F36C-FCD3-05E6-9377A9DC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</p:spPr>
        <p:txBody>
          <a:bodyPr wrap="square" lIns="45720" rIns="45720" tIns="54864" bIns="36576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2100">
                <a:solidFill>
                  <a:srgbClr val="1E2D3C"/>
                </a:solidFill>
                <a:latin typeface="Cambria"/>
              </a:rPr>
              <a:t>•  Unified Security Scanner + RAG Assistant provides a centralized interface for running security scans and reviewing findings.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300" b="1">
                <a:solidFill>
                  <a:srgbClr val="16334F"/>
                </a:solidFill>
                <a:latin typeface="Cambria"/>
              </a:rPr>
              <a:t>Key Contributions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100">
                <a:solidFill>
                  <a:srgbClr val="1E2D3C"/>
                </a:solidFill>
                <a:latin typeface="Cambria"/>
              </a:rPr>
              <a:t>•  Four integrated scanners: Nmap, Nuclei, OWASP ZAP, and Nikto.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100">
                <a:solidFill>
                  <a:srgbClr val="1E2D3C"/>
                </a:solidFill>
                <a:latin typeface="Cambria"/>
              </a:rPr>
              <a:t>•  Centralized findings, severity display, and scan history.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100">
                <a:solidFill>
                  <a:srgbClr val="1E2D3C"/>
                </a:solidFill>
                <a:latin typeface="Cambria"/>
              </a:rPr>
              <a:t>•  PDF reports for documenting scan results.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100">
                <a:solidFill>
                  <a:srgbClr val="1E2D3C"/>
                </a:solidFill>
                <a:latin typeface="Cambria"/>
              </a:rPr>
              <a:t>•  RAG + Gemini assistant for security explanations grounded in retrieved project knowledge.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100">
                <a:solidFill>
                  <a:srgbClr val="1E2D3C"/>
                </a:solidFill>
                <a:latin typeface="Cambria"/>
              </a:rPr>
              <a:t>•  Extensible design for future scanner integrations and stronger validation.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2100">
                <a:solidFill>
                  <a:srgbClr val="1E2D3C"/>
                </a:solidFill>
                <a:latin typeface="Cambria"/>
              </a:rPr>
              <a:t>•  Security note: use only on systems with permission; manually validate findings.</a:t>
            </a:r>
          </a:p>
        </p:txBody>
      </p:sp>
    </p:spTree>
    <p:extLst>
      <p:ext uri="{BB962C8B-B14F-4D97-AF65-F5344CB8AC3E}">
        <p14:creationId xmlns:p14="http://schemas.microsoft.com/office/powerpoint/2010/main" val="444216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IN" sz="1200" dirty="0"/>
              <a:t>1. Automation of Nmap Scanning of Information Systems</a:t>
            </a:r>
            <a:br>
              <a:rPr lang="en-IN" sz="1200" dirty="0"/>
            </a:br>
            <a:r>
              <a:rPr lang="en-IN" sz="1200" dirty="0">
                <a:hlinkClick r:id="rId3"/>
              </a:rPr>
              <a:t>https://ieeexplore.ieee.org/document/10496014</a:t>
            </a:r>
            <a:endParaRPr lang="en-IN" sz="1200" dirty="0"/>
          </a:p>
          <a:p>
            <a:r>
              <a:rPr lang="en-IN" sz="1200" dirty="0"/>
              <a:t>2. Web-based Reconnaissance and Vulnerability Scanner: A Review and Proposed Solution</a:t>
            </a:r>
            <a:br>
              <a:rPr lang="en-IN" sz="1200" dirty="0"/>
            </a:br>
            <a:r>
              <a:rPr lang="en-IN" sz="1200" dirty="0">
                <a:hlinkClick r:id="rId4"/>
              </a:rPr>
              <a:t>https://ieeexplore.ieee.org/document/9655963</a:t>
            </a:r>
            <a:endParaRPr lang="en-IN" sz="1200" dirty="0"/>
          </a:p>
          <a:p>
            <a:r>
              <a:rPr lang="en-IN" sz="1200" dirty="0"/>
              <a:t>3. A Comprehensive Detection Approach of Nmap: Principles, Rules and Experiments</a:t>
            </a:r>
            <a:br>
              <a:rPr lang="en-IN" sz="1200" dirty="0"/>
            </a:br>
            <a:r>
              <a:rPr lang="en-IN" sz="1200" dirty="0">
                <a:hlinkClick r:id="rId5"/>
              </a:rPr>
              <a:t>https://ieeexplore.ieee.org/document/9329410</a:t>
            </a:r>
            <a:endParaRPr lang="en-IN" sz="1200" dirty="0"/>
          </a:p>
          <a:p>
            <a:r>
              <a:rPr lang="en-IN" sz="1200" dirty="0"/>
              <a:t>4. Evaluation of Security Vulnerability Scanners for Small and Medium Enterprises Business Networks Resilience Towards Risk Assessment</a:t>
            </a:r>
            <a:br>
              <a:rPr lang="en-IN" sz="1200" dirty="0"/>
            </a:br>
            <a:r>
              <a:rPr lang="en-IN" sz="1200" dirty="0">
                <a:hlinkClick r:id="rId6"/>
              </a:rPr>
              <a:t>https://ieeexplore.ieee.org/document/8873438</a:t>
            </a:r>
            <a:endParaRPr lang="en-IN" sz="1200" dirty="0"/>
          </a:p>
          <a:p>
            <a:r>
              <a:rPr lang="en-IN" sz="1200" dirty="0"/>
              <a:t>5. Research on the LLM-Driven Vulnerability Detection System Using </a:t>
            </a:r>
            <a:r>
              <a:rPr lang="en-IN" sz="1200" dirty="0" err="1"/>
              <a:t>LProtector</a:t>
            </a:r>
            <a:br>
              <a:rPr lang="en-IN" sz="1200" dirty="0"/>
            </a:br>
            <a:r>
              <a:rPr lang="en-IN" sz="1200" dirty="0">
                <a:hlinkClick r:id="rId7"/>
              </a:rPr>
              <a:t>https://ieeexplore.ieee.org/document/10859408</a:t>
            </a:r>
            <a:endParaRPr lang="en-IN" sz="1200" dirty="0"/>
          </a:p>
          <a:p>
            <a:r>
              <a:rPr lang="en-IN" sz="1200" dirty="0"/>
              <a:t>6. Enriching IP Scanning Results with Structured Threat Intelligence Toward Actionable Reconnaissance in Cybersecurity Operations</a:t>
            </a:r>
            <a:br>
              <a:rPr lang="en-IN" sz="1200" dirty="0"/>
            </a:br>
            <a:r>
              <a:rPr lang="en-IN" sz="1200" dirty="0">
                <a:hlinkClick r:id="rId8"/>
              </a:rPr>
              <a:t>https://ieeexplore.ieee.org/document/11208493</a:t>
            </a:r>
            <a:endParaRPr lang="en-IN" sz="1200" dirty="0"/>
          </a:p>
          <a:p>
            <a:r>
              <a:rPr lang="en-IN" sz="1200" dirty="0"/>
              <a:t>7. Vulnerability Management Chaining: An Integrated Framework for Efficient Cybersecurity Risk Prioritization</a:t>
            </a:r>
            <a:br>
              <a:rPr lang="en-IN" sz="1200" dirty="0"/>
            </a:br>
            <a:r>
              <a:rPr lang="en-IN" sz="1200" dirty="0"/>
              <a:t>https://ieeexplore.ieee.org/document/3665768</a:t>
            </a:r>
          </a:p>
          <a:p>
            <a:r>
              <a:rPr lang="en-IN" sz="1200" dirty="0"/>
              <a:t>8. IoT-Scan: Network Reconnaissance for Internet of Things</a:t>
            </a:r>
            <a:br>
              <a:rPr lang="en-IN" sz="1200" dirty="0"/>
            </a:br>
            <a:r>
              <a:rPr lang="en-IN" sz="1200" dirty="0">
                <a:hlinkClick r:id="rId9"/>
              </a:rPr>
              <a:t>https://ieeexplore.ieee.org/document/10299538</a:t>
            </a:r>
            <a:endParaRPr lang="en-IN" sz="1200" dirty="0"/>
          </a:p>
          <a:p>
            <a:r>
              <a:rPr lang="en-IN" sz="1200" dirty="0"/>
              <a:t>9. A Comparative Analysis of Port Scanning Tool Efficacy</a:t>
            </a:r>
            <a:br>
              <a:rPr lang="en-IN" sz="1200" dirty="0"/>
            </a:br>
            <a:r>
              <a:rPr lang="en-IN" sz="1200" dirty="0">
                <a:hlinkClick r:id="rId10"/>
              </a:rPr>
              <a:t>https://ieeexplore.ieee.org/document/10339885</a:t>
            </a:r>
            <a:endParaRPr lang="en-IN" sz="1200" dirty="0"/>
          </a:p>
          <a:p>
            <a:r>
              <a:rPr lang="en-IN" sz="1200" dirty="0"/>
              <a:t>10. </a:t>
            </a:r>
            <a:r>
              <a:rPr lang="en-IN" sz="1200" dirty="0" err="1"/>
              <a:t>RAGSec</a:t>
            </a:r>
            <a:r>
              <a:rPr lang="en-IN" sz="1200" dirty="0"/>
              <a:t>: Retrieval-Augmented Generation for Cybersecurity Threat Intelligence in Enterprise Networks</a:t>
            </a:r>
            <a:br>
              <a:rPr lang="en-IN" sz="1200" dirty="0"/>
            </a:br>
            <a:r>
              <a:rPr lang="en-IN" sz="1200" dirty="0"/>
              <a:t> </a:t>
            </a:r>
            <a:r>
              <a:rPr lang="en-IN" sz="1200" dirty="0">
                <a:hlinkClick r:id="rId11"/>
              </a:rPr>
              <a:t>https://doi.org/10.1109/ICAIC67076.2026.11395762</a:t>
            </a:r>
            <a:endParaRPr lang="en-IN" sz="1200" dirty="0"/>
          </a:p>
          <a:p>
            <a:pPr marL="76200" lvl="0" indent="0">
              <a:buNone/>
            </a:pPr>
            <a:br>
              <a:rPr lang="en-IN" sz="1200" dirty="0"/>
            </a:b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Props1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2801</TotalTime>
  <Words>788</Words>
  <Application>Microsoft Office PowerPoint</Application>
  <PresentationFormat>Widescreen</PresentationFormat>
  <Paragraphs>178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Cambria</vt:lpstr>
      <vt:lpstr>Verdana</vt:lpstr>
      <vt:lpstr>Wingdings</vt:lpstr>
      <vt:lpstr>Bioinformatics</vt:lpstr>
      <vt:lpstr>PowerPoint Presentation</vt:lpstr>
      <vt:lpstr>Unified Security Scanner + RAG Assistant</vt:lpstr>
      <vt:lpstr>Content</vt:lpstr>
      <vt:lpstr>Problem Statement </vt:lpstr>
      <vt:lpstr>Drawbacks and Proposed Methods </vt:lpstr>
      <vt:lpstr>System Architecture</vt:lpstr>
      <vt:lpstr>Modules </vt:lpstr>
      <vt:lpstr>Modules</vt:lpstr>
      <vt:lpstr>Technology Stack</vt:lpstr>
      <vt:lpstr>Algorithm 1: Unified Scan Workflow</vt:lpstr>
      <vt:lpstr>Algorithm 2: RAG + AI Assistant</vt:lpstr>
      <vt:lpstr>Source Code Structure</vt:lpstr>
      <vt:lpstr>Implementation Functionality </vt:lpstr>
      <vt:lpstr>Results</vt:lpstr>
      <vt:lpstr>Conclusion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Security Scanner + RAG Assistant — Mini Project Review 4</dc:title>
  <dc:creator>Admin</dc:creator>
  <cp:lastModifiedBy>ROOPASHREE M</cp:lastModifiedBy>
  <cp:revision>50</cp:revision>
  <dcterms:modified xsi:type="dcterms:W3CDTF">2026-09-25T11:40:26Z</dcterms:modified>
  <dc:subject>Review 4 implementation and validation status</dc:subject>
  <cp:keywords>Unified Security Scanner, Nmap, Nuclei, OWASP ZAP, Nikto, RAG, Gemini</cp:keywords>
  <dc:description>Updated from Review 3 deck for Review 4; scanner names and diagrams aligned with current implementation.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